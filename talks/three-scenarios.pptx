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578f95f-3d96-c6b1-2202-04ce1e9810b6}">
          <p14:sldIdLst>
            <p14:sldId id="256"/>
          </p14:sldIdLst>
        </p14:section>
        <p14:section name="The tool" id="{d4ac0244-4c3a-c486-3355-472284ec1260}">
          <p14:sldIdLst>
            <p14:sldId id="257"/>
            <p14:sldId id="258"/>
          </p14:sldIdLst>
        </p14:section>
        <p14:section name="Scenario 1" id="{26896479-3b85-672d-7923-e2d8dd854b26}">
          <p14:sldIdLst>
            <p14:sldId id="259"/>
            <p14:sldId id="260"/>
            <p14:sldId id="261"/>
          </p14:sldIdLst>
        </p14:section>
        <p14:section name="Scenario 2" id="{df665ae1-864e-95f2-0535-eb294c765876}">
          <p14:sldIdLst>
            <p14:sldId id="262"/>
            <p14:sldId id="263"/>
            <p14:sldId id="264"/>
          </p14:sldIdLst>
        </p14:section>
        <p14:section name="Scenario 3" id="{037fb4aa-66fa-1af2-03fe-e764a138a3ed}">
          <p14:sldIdLst>
            <p14:sldId id="265"/>
            <p14:sldId id="266"/>
            <p14:sldId id="267"/>
          </p14:sldIdLst>
        </p14:section>
        <p14:section name="Closing" id="{361826ea-fae0-01fe-0e20-48ed84df165f}">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fails in production. Sometimes it's still running and failing now and then. Sometimes every number looks healthy and the only evidence is in the logs. And sometimes it's already dead, and all you have is a crash dump. I'll take one real scenario of each kind and show, with the actual tool output, how an AI agent with otp_debug_mcp gets from the symptom to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setup. otp_debug_mcp is an MCP server. The agent, Claude Code in these examples, talks to it over stdio, and it joins your node over Erlang distribution as a hidden node. Nothing changes on the node: no dependency, no redeploy. If recon isn't there, it's loaded for the session. The tools encode procedures rather than raw primitives: diagnose runs a whole battery of checks and returns ranked findings with what they mean. And it's careful with production: traces are capped on events and time, and loading code needs your approval every time. It works on anything running on the BEAM: Erlang, Elixir, Gleam, LFE; and with any MCP client: Claude Code, Claude Desktop, Cursor,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follows a playbook, and the otp-debug skill teaches it. Connect. Run diagnose first, always: it's every check at once, ranked worst first. Then drill into what it flagged: one process, the node's errors, the calls of one function, the code that's running. And confirm with snapshot diffs before calling something a leak, because one big number is a guess and a growing one is evidence. There are 17 tools, and each result ends with what to look at next. Now, the three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scenario: a node that's running, and failing now and then. No pattern, no alarm. This is the Elixir payments demo, and this is the whole prompt: it fails payments now and then, find out why. Notice what isn't in the prompt: no module name, no stack trace, no logs. That's about what an on-call engineer has at three in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connected and ran diagnose, and one check came back as a warning: supervisor restarts. That one result is the whole diagnosis. It names the child, Payments.Gateway, which died and was restarted while the check watched it. It gives the exit reason with the stack: binary_to_integer on the string 443x, in handle_info, at line 26. The port in the gateway's URL is mistyped. And it explains why this shows up only now and then: 11 restarts in 10 seconds against a limit of 15. The supervisor never gives up, so nothing fails over. It just crashes about once a second, forever, and some payments fail. The other checks were all ok. top_reductions put the supervisor at the top, which is the restart churn, not a CPU problem, and the interpretation says so. The fixes the agent proposed went beyond the line: correct the URL in the configuration; parse it with URI.new rather than URI.parse, which quietly gives port 443 for this URL; and check the configuration in init, so the application refuses to boot instead of crashing a second after every start. And consider the defaults: with the Supervisor default of 3 restarts in 5 seconds, this loop would have stopped the application within seconds. Loud, instead of intermittent.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obvious next step: we have a fix, does it work? load_module puts a compiled beam onto the running node. But it never just does it. The server shows you a dialog with the md5 of the new code and of the code running now, and nothing loads until you accept. Even when the tool is allowed in the agent's permissions. After the load, the agent checked the supervisor again. 11 restarts in the window before, 8 three seconds later, all old ones, and 2 after nine seconds, with nothing restarting. The crash loop was over. The load lasts until the node restarts, so the fix still has to be deployed. But you've seen it work on the real node first. One detail I like: the first version of this fix handled a URL with a host, and a parse error. The agent pointed out that URI.new on a string like foo succeeds with no host, which neither clause matches, so the gateway would crash again. And notice what the fix doesn't do: payments still fail, because the URL is still wrong. But now the gateway says so in its state and its log, instead of dying every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two is harder. The node keeps working while it fails. No queue builds up, nothing leaks, every number looks healthy. The evidence is only in what it logs. This is the Erlang orders demo. The agent had only the otp-debug tools, and the session took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caught part of it: the importer crashing under its supervisor's limit. For the rest, the agent used recent_errors, which listens to the node's logger and groups what it hears. In 15 seconds: the importer crashed 8 times, 24 reports grouped into one, with the argument it failed on, the string n/a, and the line. Payments failing on a provider timeout, with the line that logs it. The provider being slow on about every other charge. And the one I like most: recent_errors also reads the node's log file, and at the very top, once, at boot, the pricing rules couldn't be read. The node carried on charging list prices, and nothing else shows it. Why grouping matters: each crash logs three reports, the gen_server's own, a crash report, and the supervisor's. Without grouping, that's 24 lines of noise. Grouped, it's one finding, with a count of the different processes: eight processes for one name means one process, restarted again and again. A crash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module_code, which reads the running code from the beam files, turned those groups into causes. Three problems, in about a minute. Lost imports: one bad line in a batch crashes the importer and takes the good orders with it, and the restarted importer tries the same batch again. 27 crashes since boot, never enough to hit the limit. Failed payments: a timeout on about one charge in ten, and the code simply moves on. And list prices: the pricing file is read from a relative path that doesn't exist in the release. None of these shows up in any metric. All three were in the logs. And look at the importer's own counter: it counts imports in its state, and the state starts at zero on every restart. So it has never shown a single import, and a zero looks like a quiet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three: the node is already gone. It died, systemd or Kubernetes restarted it, and you want to know why before it happens again. All that's left is erl_crash.dump. There's no node to connect to: crash_dump reads the file on the machine running the server. The demo node may use only 300 megabytes, so it dies within a minute and leaves a 128 megabyte dump.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took 23 seconds. First, what the VM's last words mean: eheap_alloc couldn't allocate, so the node ran out of memory, and it was a process heap that was growing. Then what stands out: one process, events_writer, held 74 percent of the node's memory, in a mailbox of over a million messages. The dump decodes the first messages too. The oldest one waiting is event number 11,951, so the writer had stored about one percent of what it was sent. And the process the VM was running when it died was events_source, the sender. Memory by category says the same: processes held 196 of the node's 252 megabytes, binaries nothing, ETS under one. Not a binary leak, not a table: one mailbox. The dump is read as a stream, so a few hundred megabytes take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picture is simple once you see it. The source sends events with a plain send, never waiting. The writer sleeps between events. The difference piles up in the writer's mailbox until there's no memory left. The fixes: backpressure, so the source waits for the writer, with a call or an acknowledgement per batch. A faster writer that takes events in batches. And a practical one: point ERL_CRASH_DUMP at a volume. In a container, a dump written inside it is gone with the container, and so is your evidence. One limit to know: a node killed by the operating system, the OOM killer or kill -9, writes no dump at all, and in a container running out of memory usually ends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point this at production, four things. The Erlang cookie is full access: anyone with it can run any code on the node, so giving it to the tool gives that to the agent. remote_eval, arbitrary code, is off by default; leave it off, the purpose-built tools answer without it. Loading code always goes through a dialog, and only lasts until a restart. And everything the tools return goes to the AI provider: process state, traced arguments, log lines. Mind secrets and personal data. None of this is new for BEAM tooling: observer and remote shells need the cookie too. But an agent acts faster than a person, so the defaults lean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demos in the repository, one command each. Start one, point an agent at it with only the symptom, and watch what it does. docs/scenarios.md has all 27 scenarios, and docs/walkthroughs.md has these sessions recorded, every tool call with its real result.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5852160" cy="160020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834640"/>
            <a:ext cx="5852160" cy="1280160"/>
          </a:xfrm>
          <a:prstGeom prst="rect">
            <a:avLst/>
          </a:prstGeom>
          <a:noFill/>
          <a:ln/>
        </p:spPr>
        <p:txBody>
          <a:bodyPr wrap="square" rtlCol="0"/>
          <a:lstStyle>
            <a:lvl1pPr algn="l" indent="0" marL="0">
              <a:buNone/>
              <a:defRPr lang="en-US" sz="1800" dirty="0">
                <a:solidFill>
                  <a:schemeClr val="accent6"/>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SCENARIO">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046720" cy="365760"/>
          </a:xfrm>
          <a:prstGeom prst="rect">
            <a:avLst/>
          </a:prstGeom>
          <a:noFill/>
          <a:ln/>
        </p:spPr>
        <p:txBody>
          <a:bodyPr wrap="square" rtlCol="0"/>
          <a:lstStyle>
            <a:lvl1pPr algn="l" indent="0" marL="0">
              <a:buNone/>
              <a:defRPr lang="en-US" sz="1600" b="1" dirty="0">
                <a:solidFill>
                  <a:schemeClr val="accent6"/>
                </a:solidFill>
                <a:latin typeface="Calibri" pitchFamily="34" charset="0"/>
                <a:ea typeface="Calibri" pitchFamily="34" charset="-122"/>
                <a:cs typeface="Calibri" pitchFamily="34" charset="-120"/>
              </a:defRPr>
            </a:lvl1pPr>
          </a:lstStyle>
          <a:p>
            <a:pPr algn="l" indent="0" marL="0">
              <a:buNone/>
            </a:pPr>
            <a:endParaRPr lang="en-US" sz="1600" dirty="0"/>
          </a:p>
        </p:txBody>
      </p:sp>
      <p:sp>
        <p:nvSpPr>
          <p:cNvPr id="3" name="Text 0"/>
          <p:cNvSpPr/>
          <p:nvPr>
            <p:ph idx="101" type="title" hasCustomPrompt="1"/>
          </p:nvPr>
        </p:nvSpPr>
        <p:spPr>
          <a:xfrm>
            <a:off x="548640" y="1051560"/>
            <a:ext cx="8046720" cy="82296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otp_debug_mcp  ·  Three ways a node fails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7724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5.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5852160" cy="160020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Three ways a node fails, and how an agent finds out</a:t>
            </a:r>
            <a:endParaRPr lang="en-US" sz="3800" dirty="0"/>
          </a:p>
        </p:txBody>
      </p:sp>
      <p:sp>
        <p:nvSpPr>
          <p:cNvPr id="3" name="Text 0"/>
          <p:cNvSpPr/>
          <p:nvPr>
            <p:ph idx="101" type="body" hasCustomPrompt="1"/>
          </p:nvPr>
        </p:nvSpPr>
        <p:spPr>
          <a:xfrm>
            <a:off x="548640" y="2834640"/>
            <a:ext cx="5852160" cy="1280160"/>
          </a:xfrm>
          <a:prstGeom prst="rect">
            <a:avLst/>
          </a:prstGeom>
          <a:noFill/>
          <a:ln/>
        </p:spPr>
        <p:txBody>
          <a:bodyPr wrap="square" lIns="0" tIns="0" rIns="0" bIns="0" rtlCol="0" anchor="t"/>
          <a:lstStyle/>
          <a:p>
            <a:pPr algn="l" indent="0" marL="0">
              <a:buNone/>
            </a:pPr>
            <a:r>
              <a:rPr lang="en-US" sz="1800" dirty="0">
                <a:solidFill>
                  <a:schemeClr val="accent6"/>
                </a:solidFill>
                <a:latin typeface="Calibri" pitchFamily="34" charset="0"/>
                <a:ea typeface="Calibri" pitchFamily="34" charset="-122"/>
                <a:cs typeface="Calibri" pitchFamily="34" charset="-120"/>
              </a:rPr>
              <a:t>Debugging live Erlang and Elixir nodes with otp_debug_mcp</a:t>
            </a:r>
            <a:endParaRPr lang="en-US" sz="1800" dirty="0"/>
          </a:p>
          <a:p>
            <a:pPr algn="l" indent="0" marL="0">
              <a:buNone/>
            </a:pPr>
            <a:r>
              <a:rPr lang="en-US" sz="1400" dirty="0">
                <a:solidFill>
                  <a:schemeClr val="bg1"/>
                </a:solidFill>
                <a:latin typeface="Calibri" pitchFamily="34" charset="0"/>
                <a:ea typeface="Calibri" pitchFamily="34" charset="-122"/>
                <a:cs typeface="Calibri" pitchFamily="34" charset="-120"/>
              </a:rPr>
              <a:t>Anatoly Rodionov</a:t>
            </a:r>
            <a:endParaRPr lang="en-US" sz="1800" dirty="0"/>
          </a:p>
        </p:txBody>
      </p:sp>
      <p:sp>
        <p:nvSpPr>
          <p:cNvPr id="4" name="Diagnosis circle"/>
          <p:cNvSpPr/>
          <p:nvPr/>
        </p:nvSpPr>
        <p:spPr>
          <a:xfrm>
            <a:off x="6812280" y="1417320"/>
            <a:ext cx="1737360" cy="1737360"/>
          </a:xfrm>
          <a:prstGeom prst="ellipse">
            <a:avLst/>
          </a:prstGeom>
          <a:solidFill>
            <a:schemeClr val="accent1"/>
          </a:solidFill>
          <a:ln w="12700">
            <a:solidFill>
              <a:schemeClr val="accent1"/>
            </a:solidFill>
            <a:prstDash val="solid"/>
          </a:ln>
        </p:spPr>
      </p:sp>
      <p:pic>
        <p:nvPicPr>
          <p:cNvPr id="5" name="Diagnosis icon" descr="Diagnosis">    </p:cNvPr>
          <p:cNvPicPr>
            <a:picLocks noChangeAspect="1"/>
          </p:cNvPicPr>
          <p:nvPr/>
        </p:nvPicPr>
        <p:blipFill>
          <a:blip r:embed="rId1"/>
          <a:stretch>
            <a:fillRect/>
          </a:stretch>
        </p:blipFill>
        <p:spPr>
          <a:xfrm>
            <a:off x="7229246" y="1834286"/>
            <a:ext cx="903427" cy="9034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An agent, attached to the running node</a:t>
            </a:r>
            <a:endParaRPr lang="en-US" sz="3200" dirty="0"/>
          </a:p>
        </p:txBody>
      </p:sp>
      <p:sp>
        <p:nvSpPr>
          <p:cNvPr id="3" name="AI agent circle"/>
          <p:cNvSpPr/>
          <p:nvPr/>
        </p:nvSpPr>
        <p:spPr>
          <a:xfrm>
            <a:off x="1325880" y="1188720"/>
            <a:ext cx="777240" cy="777240"/>
          </a:xfrm>
          <a:prstGeom prst="ellipse">
            <a:avLst/>
          </a:prstGeom>
          <a:solidFill>
            <a:schemeClr val="accent2"/>
          </a:solidFill>
          <a:ln w="12700">
            <a:solidFill>
              <a:schemeClr val="accent2"/>
            </a:solidFill>
            <a:prstDash val="solid"/>
          </a:ln>
        </p:spPr>
      </p:sp>
      <p:pic>
        <p:nvPicPr>
          <p:cNvPr id="4" name="AI agent icon" descr="AI agent">    </p:cNvPr>
          <p:cNvPicPr>
            <a:picLocks noChangeAspect="1"/>
          </p:cNvPicPr>
          <p:nvPr/>
        </p:nvPicPr>
        <p:blipFill>
          <a:blip r:embed="rId1"/>
          <a:stretch>
            <a:fillRect/>
          </a:stretch>
        </p:blipFill>
        <p:spPr>
          <a:xfrm>
            <a:off x="1512418" y="1375258"/>
            <a:ext cx="404165" cy="404165"/>
          </a:xfrm>
          <a:prstGeom prst="rect">
            <a:avLst/>
          </a:prstGeom>
        </p:spPr>
      </p:pic>
      <p:sp>
        <p:nvSpPr>
          <p:cNvPr id="5" name="Text 2"/>
          <p:cNvSpPr txBox="1"/>
          <p:nvPr/>
        </p:nvSpPr>
        <p:spPr>
          <a:xfrm>
            <a:off x="640080" y="2057400"/>
            <a:ext cx="2148840" cy="365760"/>
          </a:xfrm>
          <a:prstGeom prst="rect">
            <a:avLst/>
          </a:prstGeom>
          <a:noFill/>
          <a:ln/>
        </p:spPr>
        <p:txBody>
          <a:bodyPr wrap="square" lIns="0" tIns="0" rIns="0" bIns="0" rtlCol="0" anchor="t"/>
          <a:lstStyle/>
          <a:p>
            <a:pPr algn="ctr" indent="0" marL="0">
              <a:buNone/>
            </a:pPr>
            <a:r>
              <a:rPr lang="en-US" sz="1700" b="1" dirty="0">
                <a:solidFill>
                  <a:schemeClr val="tx2"/>
                </a:solidFill>
                <a:latin typeface="Calibri" pitchFamily="34" charset="0"/>
                <a:ea typeface="Calibri" pitchFamily="34" charset="-122"/>
                <a:cs typeface="Calibri" pitchFamily="34" charset="-120"/>
              </a:rPr>
              <a:t>AI agent</a:t>
            </a:r>
            <a:endParaRPr lang="en-US" sz="1700" dirty="0"/>
          </a:p>
        </p:txBody>
      </p:sp>
      <p:sp>
        <p:nvSpPr>
          <p:cNvPr id="6" name="Text 3"/>
          <p:cNvSpPr txBox="1"/>
          <p:nvPr/>
        </p:nvSpPr>
        <p:spPr>
          <a:xfrm>
            <a:off x="640080" y="2395728"/>
            <a:ext cx="2148840"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Claude Code, Cursor, …</a:t>
            </a:r>
            <a:endParaRPr lang="en-US" sz="1300" dirty="0"/>
          </a:p>
        </p:txBody>
      </p:sp>
      <p:sp>
        <p:nvSpPr>
          <p:cNvPr id="7" name="Flow arrow 1"/>
          <p:cNvSpPr/>
          <p:nvPr/>
        </p:nvSpPr>
        <p:spPr>
          <a:xfrm>
            <a:off x="2880360" y="1417320"/>
            <a:ext cx="548640" cy="320040"/>
          </a:xfrm>
          <a:prstGeom prst="rightArrow">
            <a:avLst/>
          </a:prstGeom>
          <a:solidFill>
            <a:schemeClr val="accent6"/>
          </a:solidFill>
          <a:ln w="12700">
            <a:solidFill>
              <a:schemeClr val="accent6"/>
            </a:solidFill>
            <a:prstDash val="solid"/>
          </a:ln>
        </p:spPr>
      </p:sp>
      <p:sp>
        <p:nvSpPr>
          <p:cNvPr id="8" name="otp_debug_mcp circle"/>
          <p:cNvSpPr/>
          <p:nvPr/>
        </p:nvSpPr>
        <p:spPr>
          <a:xfrm>
            <a:off x="4206240" y="1188720"/>
            <a:ext cx="777240" cy="777240"/>
          </a:xfrm>
          <a:prstGeom prst="ellipse">
            <a:avLst/>
          </a:prstGeom>
          <a:solidFill>
            <a:schemeClr val="tx2"/>
          </a:solidFill>
          <a:ln w="12700">
            <a:solidFill>
              <a:schemeClr val="tx2"/>
            </a:solidFill>
            <a:prstDash val="solid"/>
          </a:ln>
        </p:spPr>
      </p:sp>
      <p:pic>
        <p:nvPicPr>
          <p:cNvPr id="9" name="otp_debug_mcp icon" descr="otp_debug_mcp">    </p:cNvPr>
          <p:cNvPicPr>
            <a:picLocks noChangeAspect="1"/>
          </p:cNvPicPr>
          <p:nvPr/>
        </p:nvPicPr>
        <p:blipFill>
          <a:blip r:embed="rId2"/>
          <a:stretch>
            <a:fillRect/>
          </a:stretch>
        </p:blipFill>
        <p:spPr>
          <a:xfrm>
            <a:off x="4392778" y="1375258"/>
            <a:ext cx="404165" cy="404165"/>
          </a:xfrm>
          <a:prstGeom prst="rect">
            <a:avLst/>
          </a:prstGeom>
        </p:spPr>
      </p:pic>
      <p:sp>
        <p:nvSpPr>
          <p:cNvPr id="10" name="Text 6"/>
          <p:cNvSpPr txBox="1"/>
          <p:nvPr/>
        </p:nvSpPr>
        <p:spPr>
          <a:xfrm>
            <a:off x="3520440" y="2057400"/>
            <a:ext cx="2148840" cy="365760"/>
          </a:xfrm>
          <a:prstGeom prst="rect">
            <a:avLst/>
          </a:prstGeom>
          <a:noFill/>
          <a:ln/>
        </p:spPr>
        <p:txBody>
          <a:bodyPr wrap="square" lIns="0" tIns="0" rIns="0" bIns="0" rtlCol="0" anchor="t"/>
          <a:lstStyle/>
          <a:p>
            <a:pPr algn="ctr" indent="0" marL="0">
              <a:buNone/>
            </a:pPr>
            <a:r>
              <a:rPr lang="en-US" sz="1700" b="1" dirty="0">
                <a:solidFill>
                  <a:schemeClr val="tx2"/>
                </a:solidFill>
                <a:latin typeface="Calibri" pitchFamily="34" charset="0"/>
                <a:ea typeface="Calibri" pitchFamily="34" charset="-122"/>
                <a:cs typeface="Calibri" pitchFamily="34" charset="-120"/>
              </a:rPr>
              <a:t>otp_debug_mcp</a:t>
            </a:r>
            <a:endParaRPr lang="en-US" sz="1700" dirty="0"/>
          </a:p>
        </p:txBody>
      </p:sp>
      <p:sp>
        <p:nvSpPr>
          <p:cNvPr id="11" name="Text 7"/>
          <p:cNvSpPr txBox="1"/>
          <p:nvPr/>
        </p:nvSpPr>
        <p:spPr>
          <a:xfrm>
            <a:off x="3520440" y="2395728"/>
            <a:ext cx="2148840"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MCP server, over stdio</a:t>
            </a:r>
            <a:endParaRPr lang="en-US" sz="1300" dirty="0"/>
          </a:p>
        </p:txBody>
      </p:sp>
      <p:sp>
        <p:nvSpPr>
          <p:cNvPr id="12" name="Flow arrow 2"/>
          <p:cNvSpPr/>
          <p:nvPr/>
        </p:nvSpPr>
        <p:spPr>
          <a:xfrm>
            <a:off x="5760720" y="1417320"/>
            <a:ext cx="548640" cy="320040"/>
          </a:xfrm>
          <a:prstGeom prst="rightArrow">
            <a:avLst/>
          </a:prstGeom>
          <a:solidFill>
            <a:schemeClr val="accent6"/>
          </a:solidFill>
          <a:ln w="12700">
            <a:solidFill>
              <a:schemeClr val="accent6"/>
            </a:solidFill>
            <a:prstDash val="solid"/>
          </a:ln>
        </p:spPr>
      </p:sp>
      <p:sp>
        <p:nvSpPr>
          <p:cNvPr id="13" name="Your node circle"/>
          <p:cNvSpPr/>
          <p:nvPr/>
        </p:nvSpPr>
        <p:spPr>
          <a:xfrm>
            <a:off x="7086600" y="1188720"/>
            <a:ext cx="777240" cy="777240"/>
          </a:xfrm>
          <a:prstGeom prst="ellipse">
            <a:avLst/>
          </a:prstGeom>
          <a:solidFill>
            <a:schemeClr val="accent1"/>
          </a:solidFill>
          <a:ln w="12700">
            <a:solidFill>
              <a:schemeClr val="accent1"/>
            </a:solidFill>
            <a:prstDash val="solid"/>
          </a:ln>
        </p:spPr>
      </p:sp>
      <p:pic>
        <p:nvPicPr>
          <p:cNvPr id="14" name="Your node icon" descr="Your node">    </p:cNvPr>
          <p:cNvPicPr>
            <a:picLocks noChangeAspect="1"/>
          </p:cNvPicPr>
          <p:nvPr/>
        </p:nvPicPr>
        <p:blipFill>
          <a:blip r:embed="rId3"/>
          <a:stretch>
            <a:fillRect/>
          </a:stretch>
        </p:blipFill>
        <p:spPr>
          <a:xfrm>
            <a:off x="7273138" y="1375258"/>
            <a:ext cx="404165" cy="404165"/>
          </a:xfrm>
          <a:prstGeom prst="rect">
            <a:avLst/>
          </a:prstGeom>
        </p:spPr>
      </p:pic>
      <p:sp>
        <p:nvSpPr>
          <p:cNvPr id="15" name="Text 10"/>
          <p:cNvSpPr txBox="1"/>
          <p:nvPr/>
        </p:nvSpPr>
        <p:spPr>
          <a:xfrm>
            <a:off x="6400800" y="2057400"/>
            <a:ext cx="2148840" cy="365760"/>
          </a:xfrm>
          <a:prstGeom prst="rect">
            <a:avLst/>
          </a:prstGeom>
          <a:noFill/>
          <a:ln/>
        </p:spPr>
        <p:txBody>
          <a:bodyPr wrap="square" lIns="0" tIns="0" rIns="0" bIns="0" rtlCol="0" anchor="t"/>
          <a:lstStyle/>
          <a:p>
            <a:pPr algn="ctr" indent="0" marL="0">
              <a:buNone/>
            </a:pPr>
            <a:r>
              <a:rPr lang="en-US" sz="1700" b="1" dirty="0">
                <a:solidFill>
                  <a:schemeClr val="tx2"/>
                </a:solidFill>
                <a:latin typeface="Calibri" pitchFamily="34" charset="0"/>
                <a:ea typeface="Calibri" pitchFamily="34" charset="-122"/>
                <a:cs typeface="Calibri" pitchFamily="34" charset="-120"/>
              </a:rPr>
              <a:t>Your node</a:t>
            </a:r>
            <a:endParaRPr lang="en-US" sz="1700" dirty="0"/>
          </a:p>
        </p:txBody>
      </p:sp>
      <p:sp>
        <p:nvSpPr>
          <p:cNvPr id="16" name="Text 11"/>
          <p:cNvSpPr txBox="1"/>
          <p:nvPr/>
        </p:nvSpPr>
        <p:spPr>
          <a:xfrm>
            <a:off x="6400800" y="2395728"/>
            <a:ext cx="2148840"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joined as a hidden node</a:t>
            </a:r>
            <a:endParaRPr lang="en-US" sz="1300" dirty="0"/>
          </a:p>
        </p:txBody>
      </p:sp>
      <p:sp>
        <p:nvSpPr>
          <p:cNvPr id="17" name="No changes to the node card"/>
          <p:cNvSpPr/>
          <p:nvPr/>
        </p:nvSpPr>
        <p:spPr>
          <a:xfrm>
            <a:off x="457200" y="301752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8" name="Text 13"/>
          <p:cNvSpPr txBox="1"/>
          <p:nvPr/>
        </p:nvSpPr>
        <p:spPr>
          <a:xfrm>
            <a:off x="640080" y="3154680"/>
            <a:ext cx="22860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No changes to the node</a:t>
            </a:r>
            <a:endParaRPr lang="en-US" sz="1600" dirty="0"/>
          </a:p>
        </p:txBody>
      </p:sp>
      <p:sp>
        <p:nvSpPr>
          <p:cNvPr id="19" name="Text 14"/>
          <p:cNvSpPr txBox="1"/>
          <p:nvPr/>
        </p:nvSpPr>
        <p:spPr>
          <a:xfrm>
            <a:off x="640080" y="3547872"/>
            <a:ext cx="228600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 dependency, no redeploy: recon is injected when missing</a:t>
            </a:r>
            <a:endParaRPr lang="en-US" sz="1400" dirty="0"/>
          </a:p>
        </p:txBody>
      </p:sp>
      <p:sp>
        <p:nvSpPr>
          <p:cNvPr id="20" name="Procedures, not primitives card"/>
          <p:cNvSpPr/>
          <p:nvPr/>
        </p:nvSpPr>
        <p:spPr>
          <a:xfrm>
            <a:off x="3246120" y="301752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21" name="Text 16"/>
          <p:cNvSpPr txBox="1"/>
          <p:nvPr/>
        </p:nvSpPr>
        <p:spPr>
          <a:xfrm>
            <a:off x="3429000" y="3154680"/>
            <a:ext cx="22860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Procedures, not primitives</a:t>
            </a:r>
            <a:endParaRPr lang="en-US" sz="1600" dirty="0"/>
          </a:p>
        </p:txBody>
      </p:sp>
      <p:sp>
        <p:nvSpPr>
          <p:cNvPr id="22" name="Text 17"/>
          <p:cNvSpPr txBox="1"/>
          <p:nvPr/>
        </p:nvSpPr>
        <p:spPr>
          <a:xfrm>
            <a:off x="3429000" y="3547872"/>
            <a:ext cx="228600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diagnose runs a battery of checks and ranks what it finds</a:t>
            </a:r>
            <a:endParaRPr lang="en-US" sz="1400" dirty="0"/>
          </a:p>
        </p:txBody>
      </p:sp>
      <p:sp>
        <p:nvSpPr>
          <p:cNvPr id="23" name="Safe on production card"/>
          <p:cNvSpPr/>
          <p:nvPr/>
        </p:nvSpPr>
        <p:spPr>
          <a:xfrm>
            <a:off x="6035040" y="301752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24" name="Text 19"/>
          <p:cNvSpPr txBox="1"/>
          <p:nvPr/>
        </p:nvSpPr>
        <p:spPr>
          <a:xfrm>
            <a:off x="6217920" y="3154680"/>
            <a:ext cx="22860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Safe on production</a:t>
            </a:r>
            <a:endParaRPr lang="en-US" sz="1600" dirty="0"/>
          </a:p>
        </p:txBody>
      </p:sp>
      <p:sp>
        <p:nvSpPr>
          <p:cNvPr id="25" name="Text 20"/>
          <p:cNvSpPr txBox="1"/>
          <p:nvPr/>
        </p:nvSpPr>
        <p:spPr>
          <a:xfrm>
            <a:off x="6217920" y="3547872"/>
            <a:ext cx="228600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capped traces, isolated trace sessions, approval to load code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playbook the agent follows</a:t>
            </a:r>
            <a:endParaRPr lang="en-US" sz="3200" dirty="0"/>
          </a:p>
        </p:txBody>
      </p:sp>
      <p:sp>
        <p:nvSpPr>
          <p:cNvPr id="3" name="Connect card"/>
          <p:cNvSpPr/>
          <p:nvPr/>
        </p:nvSpPr>
        <p:spPr>
          <a:xfrm>
            <a:off x="457200" y="1234440"/>
            <a:ext cx="1920240" cy="25146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4" name="Text 2"/>
          <p:cNvSpPr txBox="1"/>
          <p:nvPr/>
        </p:nvSpPr>
        <p:spPr>
          <a:xfrm>
            <a:off x="640080" y="1371600"/>
            <a:ext cx="457200" cy="457200"/>
          </a:xfrm>
          <a:prstGeom prst="rect">
            <a:avLst/>
          </a:prstGeom>
          <a:noFill/>
          <a:ln/>
        </p:spPr>
        <p:txBody>
          <a:bodyPr wrap="square" lIns="0" tIns="0" rIns="0" bIns="0" rtlCol="0" anchor="t"/>
          <a:lstStyle/>
          <a:p>
            <a:pPr indent="0" marL="0">
              <a:buNone/>
            </a:pPr>
            <a:r>
              <a:rPr lang="en-US" sz="2800" b="1" dirty="0">
                <a:solidFill>
                  <a:schemeClr val="accent6"/>
                </a:solidFill>
                <a:latin typeface="Cambria" pitchFamily="34" charset="0"/>
                <a:ea typeface="Cambria" pitchFamily="34" charset="-122"/>
                <a:cs typeface="Cambria" pitchFamily="34" charset="-120"/>
              </a:rPr>
              <a:t>1</a:t>
            </a:r>
            <a:endParaRPr lang="en-US" sz="2800" dirty="0"/>
          </a:p>
        </p:txBody>
      </p:sp>
      <p:sp>
        <p:nvSpPr>
          <p:cNvPr id="5" name="Connect circle"/>
          <p:cNvSpPr/>
          <p:nvPr/>
        </p:nvSpPr>
        <p:spPr>
          <a:xfrm>
            <a:off x="1645920" y="1371600"/>
            <a:ext cx="548640" cy="548640"/>
          </a:xfrm>
          <a:prstGeom prst="ellipse">
            <a:avLst/>
          </a:prstGeom>
          <a:solidFill>
            <a:schemeClr val="accent2"/>
          </a:solidFill>
          <a:ln w="12700">
            <a:solidFill>
              <a:schemeClr val="accent2"/>
            </a:solidFill>
            <a:prstDash val="solid"/>
          </a:ln>
        </p:spPr>
      </p:sp>
      <p:pic>
        <p:nvPicPr>
          <p:cNvPr id="6" name="Connect icon" descr="Connect">    </p:cNvPr>
          <p:cNvPicPr>
            <a:picLocks noChangeAspect="1"/>
          </p:cNvPicPr>
          <p:nvPr/>
        </p:nvPicPr>
        <p:blipFill>
          <a:blip r:embed="rId1"/>
          <a:stretch>
            <a:fillRect/>
          </a:stretch>
        </p:blipFill>
        <p:spPr>
          <a:xfrm>
            <a:off x="1777594" y="1503274"/>
            <a:ext cx="285293" cy="285293"/>
          </a:xfrm>
          <a:prstGeom prst="rect">
            <a:avLst/>
          </a:prstGeom>
        </p:spPr>
      </p:pic>
      <p:sp>
        <p:nvSpPr>
          <p:cNvPr id="7" name="Text 4"/>
          <p:cNvSpPr txBox="1"/>
          <p:nvPr/>
        </p:nvSpPr>
        <p:spPr>
          <a:xfrm>
            <a:off x="640080" y="2103120"/>
            <a:ext cx="1600200"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Connect</a:t>
            </a:r>
            <a:endParaRPr lang="en-US" sz="1800" dirty="0"/>
          </a:p>
        </p:txBody>
      </p:sp>
      <p:sp>
        <p:nvSpPr>
          <p:cNvPr id="8" name="Text 5"/>
          <p:cNvSpPr txBox="1"/>
          <p:nvPr/>
        </p:nvSpPr>
        <p:spPr>
          <a:xfrm>
            <a:off x="640080" y="2560320"/>
            <a:ext cx="160020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to the node, with its cookie</a:t>
            </a:r>
            <a:endParaRPr lang="en-US" sz="1400" dirty="0"/>
          </a:p>
        </p:txBody>
      </p:sp>
      <p:sp>
        <p:nvSpPr>
          <p:cNvPr id="9" name="diagnose card"/>
          <p:cNvSpPr/>
          <p:nvPr/>
        </p:nvSpPr>
        <p:spPr>
          <a:xfrm>
            <a:off x="2560320" y="1234440"/>
            <a:ext cx="1920240" cy="25146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0" name="Text 7"/>
          <p:cNvSpPr txBox="1"/>
          <p:nvPr/>
        </p:nvSpPr>
        <p:spPr>
          <a:xfrm>
            <a:off x="2743200" y="1371600"/>
            <a:ext cx="457200" cy="457200"/>
          </a:xfrm>
          <a:prstGeom prst="rect">
            <a:avLst/>
          </a:prstGeom>
          <a:noFill/>
          <a:ln/>
        </p:spPr>
        <p:txBody>
          <a:bodyPr wrap="square" lIns="0" tIns="0" rIns="0" bIns="0" rtlCol="0" anchor="t"/>
          <a:lstStyle/>
          <a:p>
            <a:pPr indent="0" marL="0">
              <a:buNone/>
            </a:pPr>
            <a:r>
              <a:rPr lang="en-US" sz="2800" b="1" dirty="0">
                <a:solidFill>
                  <a:schemeClr val="accent6"/>
                </a:solidFill>
                <a:latin typeface="Cambria" pitchFamily="34" charset="0"/>
                <a:ea typeface="Cambria" pitchFamily="34" charset="-122"/>
                <a:cs typeface="Cambria" pitchFamily="34" charset="-120"/>
              </a:rPr>
              <a:t>2</a:t>
            </a:r>
            <a:endParaRPr lang="en-US" sz="2800" dirty="0"/>
          </a:p>
        </p:txBody>
      </p:sp>
      <p:sp>
        <p:nvSpPr>
          <p:cNvPr id="11" name="diagnose circle"/>
          <p:cNvSpPr/>
          <p:nvPr/>
        </p:nvSpPr>
        <p:spPr>
          <a:xfrm>
            <a:off x="3749040" y="1371600"/>
            <a:ext cx="548640" cy="548640"/>
          </a:xfrm>
          <a:prstGeom prst="ellipse">
            <a:avLst/>
          </a:prstGeom>
          <a:solidFill>
            <a:schemeClr val="accent1"/>
          </a:solidFill>
          <a:ln w="12700">
            <a:solidFill>
              <a:schemeClr val="accent1"/>
            </a:solidFill>
            <a:prstDash val="solid"/>
          </a:ln>
        </p:spPr>
      </p:sp>
      <p:pic>
        <p:nvPicPr>
          <p:cNvPr id="12" name="diagnose icon" descr="diagnose">    </p:cNvPr>
          <p:cNvPicPr>
            <a:picLocks noChangeAspect="1"/>
          </p:cNvPicPr>
          <p:nvPr/>
        </p:nvPicPr>
        <p:blipFill>
          <a:blip r:embed="rId2"/>
          <a:stretch>
            <a:fillRect/>
          </a:stretch>
        </p:blipFill>
        <p:spPr>
          <a:xfrm>
            <a:off x="3880714" y="1503274"/>
            <a:ext cx="285293" cy="285293"/>
          </a:xfrm>
          <a:prstGeom prst="rect">
            <a:avLst/>
          </a:prstGeom>
        </p:spPr>
      </p:pic>
      <p:sp>
        <p:nvSpPr>
          <p:cNvPr id="13" name="Text 9"/>
          <p:cNvSpPr txBox="1"/>
          <p:nvPr/>
        </p:nvSpPr>
        <p:spPr>
          <a:xfrm>
            <a:off x="2743200" y="2103120"/>
            <a:ext cx="1600200"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diagnose</a:t>
            </a:r>
            <a:endParaRPr lang="en-US" sz="1800" dirty="0"/>
          </a:p>
        </p:txBody>
      </p:sp>
      <p:sp>
        <p:nvSpPr>
          <p:cNvPr id="14" name="Text 10"/>
          <p:cNvSpPr txBox="1"/>
          <p:nvPr/>
        </p:nvSpPr>
        <p:spPr>
          <a:xfrm>
            <a:off x="2743200" y="2560320"/>
            <a:ext cx="160020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every check at once, the worst first</a:t>
            </a:r>
            <a:endParaRPr lang="en-US" sz="1400" dirty="0"/>
          </a:p>
        </p:txBody>
      </p:sp>
      <p:sp>
        <p:nvSpPr>
          <p:cNvPr id="15" name="Drill in card"/>
          <p:cNvSpPr/>
          <p:nvPr/>
        </p:nvSpPr>
        <p:spPr>
          <a:xfrm>
            <a:off x="4663440" y="1234440"/>
            <a:ext cx="1920240" cy="25146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6" name="Text 12"/>
          <p:cNvSpPr txBox="1"/>
          <p:nvPr/>
        </p:nvSpPr>
        <p:spPr>
          <a:xfrm>
            <a:off x="4846320" y="1371600"/>
            <a:ext cx="457200" cy="457200"/>
          </a:xfrm>
          <a:prstGeom prst="rect">
            <a:avLst/>
          </a:prstGeom>
          <a:noFill/>
          <a:ln/>
        </p:spPr>
        <p:txBody>
          <a:bodyPr wrap="square" lIns="0" tIns="0" rIns="0" bIns="0" rtlCol="0" anchor="t"/>
          <a:lstStyle/>
          <a:p>
            <a:pPr indent="0" marL="0">
              <a:buNone/>
            </a:pPr>
            <a:r>
              <a:rPr lang="en-US" sz="2800" b="1" dirty="0">
                <a:solidFill>
                  <a:schemeClr val="accent6"/>
                </a:solidFill>
                <a:latin typeface="Cambria" pitchFamily="34" charset="0"/>
                <a:ea typeface="Cambria" pitchFamily="34" charset="-122"/>
                <a:cs typeface="Cambria" pitchFamily="34" charset="-120"/>
              </a:rPr>
              <a:t>3</a:t>
            </a:r>
            <a:endParaRPr lang="en-US" sz="2800" dirty="0"/>
          </a:p>
        </p:txBody>
      </p:sp>
      <p:sp>
        <p:nvSpPr>
          <p:cNvPr id="17" name="Drill in circle"/>
          <p:cNvSpPr/>
          <p:nvPr/>
        </p:nvSpPr>
        <p:spPr>
          <a:xfrm>
            <a:off x="5852160" y="1371600"/>
            <a:ext cx="548640" cy="548640"/>
          </a:xfrm>
          <a:prstGeom prst="ellipse">
            <a:avLst/>
          </a:prstGeom>
          <a:solidFill>
            <a:schemeClr val="accent2"/>
          </a:solidFill>
          <a:ln w="12700">
            <a:solidFill>
              <a:schemeClr val="accent2"/>
            </a:solidFill>
            <a:prstDash val="solid"/>
          </a:ln>
        </p:spPr>
      </p:sp>
      <p:pic>
        <p:nvPicPr>
          <p:cNvPr id="18" name="Drill in icon" descr="Drill in">    </p:cNvPr>
          <p:cNvPicPr>
            <a:picLocks noChangeAspect="1"/>
          </p:cNvPicPr>
          <p:nvPr/>
        </p:nvPicPr>
        <p:blipFill>
          <a:blip r:embed="rId3"/>
          <a:stretch>
            <a:fillRect/>
          </a:stretch>
        </p:blipFill>
        <p:spPr>
          <a:xfrm>
            <a:off x="5983834" y="1503274"/>
            <a:ext cx="285293" cy="285293"/>
          </a:xfrm>
          <a:prstGeom prst="rect">
            <a:avLst/>
          </a:prstGeom>
        </p:spPr>
      </p:pic>
      <p:sp>
        <p:nvSpPr>
          <p:cNvPr id="19" name="Text 14"/>
          <p:cNvSpPr txBox="1"/>
          <p:nvPr/>
        </p:nvSpPr>
        <p:spPr>
          <a:xfrm>
            <a:off x="4846320" y="2103120"/>
            <a:ext cx="1600200"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Drill in</a:t>
            </a:r>
            <a:endParaRPr lang="en-US" sz="1800" dirty="0"/>
          </a:p>
        </p:txBody>
      </p:sp>
      <p:sp>
        <p:nvSpPr>
          <p:cNvPr id="20" name="Text 15"/>
          <p:cNvSpPr txBox="1"/>
          <p:nvPr/>
        </p:nvSpPr>
        <p:spPr>
          <a:xfrm>
            <a:off x="4846320" y="2560320"/>
            <a:ext cx="160020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process_info, recent_errors, trace_calls, module_code</a:t>
            </a:r>
            <a:endParaRPr lang="en-US" sz="1400" dirty="0"/>
          </a:p>
        </p:txBody>
      </p:sp>
      <p:sp>
        <p:nvSpPr>
          <p:cNvPr id="21" name="Confirm card"/>
          <p:cNvSpPr/>
          <p:nvPr/>
        </p:nvSpPr>
        <p:spPr>
          <a:xfrm>
            <a:off x="6766560" y="1234440"/>
            <a:ext cx="1920240" cy="2514600"/>
          </a:xfrm>
          <a:prstGeom prst="roundRect">
            <a:avLst>
              <a:gd name="adj" fmla="val 381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22" name="Text 17"/>
          <p:cNvSpPr txBox="1"/>
          <p:nvPr/>
        </p:nvSpPr>
        <p:spPr>
          <a:xfrm>
            <a:off x="6949440" y="1371600"/>
            <a:ext cx="457200" cy="457200"/>
          </a:xfrm>
          <a:prstGeom prst="rect">
            <a:avLst/>
          </a:prstGeom>
          <a:noFill/>
          <a:ln/>
        </p:spPr>
        <p:txBody>
          <a:bodyPr wrap="square" lIns="0" tIns="0" rIns="0" bIns="0" rtlCol="0" anchor="t"/>
          <a:lstStyle/>
          <a:p>
            <a:pPr indent="0" marL="0">
              <a:buNone/>
            </a:pPr>
            <a:r>
              <a:rPr lang="en-US" sz="2800" b="1" dirty="0">
                <a:solidFill>
                  <a:schemeClr val="accent6"/>
                </a:solidFill>
                <a:latin typeface="Cambria" pitchFamily="34" charset="0"/>
                <a:ea typeface="Cambria" pitchFamily="34" charset="-122"/>
                <a:cs typeface="Cambria" pitchFamily="34" charset="-120"/>
              </a:rPr>
              <a:t>4</a:t>
            </a:r>
            <a:endParaRPr lang="en-US" sz="2800" dirty="0"/>
          </a:p>
        </p:txBody>
      </p:sp>
      <p:sp>
        <p:nvSpPr>
          <p:cNvPr id="23" name="Confirm circle"/>
          <p:cNvSpPr/>
          <p:nvPr/>
        </p:nvSpPr>
        <p:spPr>
          <a:xfrm>
            <a:off x="7955280" y="1371600"/>
            <a:ext cx="548640" cy="548640"/>
          </a:xfrm>
          <a:prstGeom prst="ellipse">
            <a:avLst/>
          </a:prstGeom>
          <a:solidFill>
            <a:schemeClr val="accent2"/>
          </a:solidFill>
          <a:ln w="12700">
            <a:solidFill>
              <a:schemeClr val="accent2"/>
            </a:solidFill>
            <a:prstDash val="solid"/>
          </a:ln>
        </p:spPr>
      </p:sp>
      <p:pic>
        <p:nvPicPr>
          <p:cNvPr id="24" name="Confirm icon" descr="Confirm">    </p:cNvPr>
          <p:cNvPicPr>
            <a:picLocks noChangeAspect="1"/>
          </p:cNvPicPr>
          <p:nvPr/>
        </p:nvPicPr>
        <p:blipFill>
          <a:blip r:embed="rId4"/>
          <a:stretch>
            <a:fillRect/>
          </a:stretch>
        </p:blipFill>
        <p:spPr>
          <a:xfrm>
            <a:off x="8086954" y="1503274"/>
            <a:ext cx="285293" cy="285293"/>
          </a:xfrm>
          <a:prstGeom prst="rect">
            <a:avLst/>
          </a:prstGeom>
        </p:spPr>
      </p:pic>
      <p:sp>
        <p:nvSpPr>
          <p:cNvPr id="25" name="Text 19"/>
          <p:cNvSpPr txBox="1"/>
          <p:nvPr/>
        </p:nvSpPr>
        <p:spPr>
          <a:xfrm>
            <a:off x="6949440" y="2103120"/>
            <a:ext cx="1600200" cy="41148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Confirm</a:t>
            </a:r>
            <a:endParaRPr lang="en-US" sz="1800" dirty="0"/>
          </a:p>
        </p:txBody>
      </p:sp>
      <p:sp>
        <p:nvSpPr>
          <p:cNvPr id="26" name="Text 20"/>
          <p:cNvSpPr txBox="1"/>
          <p:nvPr/>
        </p:nvSpPr>
        <p:spPr>
          <a:xfrm>
            <a:off x="6949440" y="2560320"/>
            <a:ext cx="160020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snapshot diffs: a trend, not a single number</a:t>
            </a:r>
            <a:endParaRPr lang="en-US" sz="1400" dirty="0"/>
          </a:p>
        </p:txBody>
      </p:sp>
      <p:sp>
        <p:nvSpPr>
          <p:cNvPr id="27" name="Text 21"/>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500" i="1" dirty="0">
                <a:solidFill>
                  <a:schemeClr val="accent5"/>
                </a:solidFill>
                <a:latin typeface="Calibri" pitchFamily="34" charset="0"/>
                <a:ea typeface="Calibri" pitchFamily="34" charset="-122"/>
                <a:cs typeface="Calibri" pitchFamily="34" charset="-120"/>
              </a:rPr>
              <a:t>17 tools. The otp-debug skill teaches the agent this order, and each result says what to look at next.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046720" cy="365760"/>
          </a:xfrm>
          <a:prstGeom prst="rect">
            <a:avLst/>
          </a:prstGeom>
          <a:noFill/>
          <a:ln/>
        </p:spPr>
        <p:txBody>
          <a:bodyPr wrap="square" lIns="0" tIns="0" rIns="0" bIns="0" rtlCol="0" anchor="ctr"/>
          <a:lstStyle/>
          <a:p>
            <a:pPr algn="l" indent="0" marL="0">
              <a:buNone/>
            </a:pPr>
            <a:r>
              <a:rPr lang="en-US" sz="1600" b="1" dirty="0">
                <a:solidFill>
                  <a:schemeClr val="accent6"/>
                </a:solidFill>
                <a:latin typeface="Calibri" pitchFamily="34" charset="0"/>
                <a:ea typeface="Calibri" pitchFamily="34" charset="-122"/>
                <a:cs typeface="Calibri" pitchFamily="34" charset="-120"/>
              </a:rPr>
              <a:t>SCENARIO 1</a:t>
            </a:r>
            <a:endParaRPr lang="en-US" sz="1600" dirty="0"/>
          </a:p>
        </p:txBody>
      </p:sp>
      <p:sp>
        <p:nvSpPr>
          <p:cNvPr id="3" name="Text 0"/>
          <p:cNvSpPr/>
          <p:nvPr>
            <p:ph idx="101" type="title" hasCustomPrompt="1"/>
          </p:nvPr>
        </p:nvSpPr>
        <p:spPr>
          <a:xfrm>
            <a:off x="548640" y="1051560"/>
            <a:ext cx="804672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It fails now and then</a:t>
            </a:r>
            <a:endParaRPr lang="en-US" sz="3600" dirty="0"/>
          </a:p>
        </p:txBody>
      </p:sp>
      <p:sp>
        <p:nvSpPr>
          <p:cNvPr id="4" name="Prompt card"/>
          <p:cNvSpPr/>
          <p:nvPr/>
        </p:nvSpPr>
        <p:spPr>
          <a:xfrm>
            <a:off x="548640" y="2240280"/>
            <a:ext cx="6675120" cy="1920240"/>
          </a:xfrm>
          <a:prstGeom prst="roundRect">
            <a:avLst>
              <a:gd name="adj" fmla="val 3810"/>
            </a:avLst>
          </a:prstGeom>
          <a:solidFill>
            <a:schemeClr val="tx1"/>
          </a:solidFill>
          <a:ln w="12700">
            <a:solidFill>
              <a:schemeClr val="tx1"/>
            </a:solidFill>
            <a:prstDash val="solid"/>
          </a:ln>
        </p:spPr>
      </p:sp>
      <p:sp>
        <p:nvSpPr>
          <p:cNvPr id="5" name="Text 3"/>
          <p:cNvSpPr txBox="1"/>
          <p:nvPr/>
        </p:nvSpPr>
        <p:spPr>
          <a:xfrm>
            <a:off x="822960" y="2423160"/>
            <a:ext cx="6126480" cy="320040"/>
          </a:xfrm>
          <a:prstGeom prst="rect">
            <a:avLst/>
          </a:prstGeom>
          <a:noFill/>
          <a:ln/>
        </p:spPr>
        <p:txBody>
          <a:bodyPr wrap="square" lIns="0" tIns="0" rIns="0" bIns="0" rtlCol="0" anchor="t"/>
          <a:lstStyle/>
          <a:p>
            <a:pPr indent="0" marL="0">
              <a:buNone/>
            </a:pPr>
            <a:r>
              <a:rPr lang="en-US" sz="1300" b="1" dirty="0">
                <a:solidFill>
                  <a:schemeClr val="accent6"/>
                </a:solidFill>
                <a:latin typeface="Calibri" pitchFamily="34" charset="0"/>
                <a:ea typeface="Calibri" pitchFamily="34" charset="-122"/>
                <a:cs typeface="Calibri" pitchFamily="34" charset="-120"/>
              </a:rPr>
              <a:t>The prompt</a:t>
            </a:r>
            <a:endParaRPr lang="en-US" sz="1300" dirty="0"/>
          </a:p>
        </p:txBody>
      </p:sp>
      <p:sp>
        <p:nvSpPr>
          <p:cNvPr id="6" name="Text 4"/>
          <p:cNvSpPr txBox="1"/>
          <p:nvPr/>
        </p:nvSpPr>
        <p:spPr>
          <a:xfrm>
            <a:off x="822960" y="2788920"/>
            <a:ext cx="6126480" cy="1234440"/>
          </a:xfrm>
          <a:prstGeom prst="rect">
            <a:avLst/>
          </a:prstGeom>
          <a:noFill/>
          <a:ln/>
        </p:spPr>
        <p:txBody>
          <a:bodyPr wrap="square" lIns="0" tIns="0" rIns="0" bIns="0" rtlCol="0" anchor="t"/>
          <a:lstStyle/>
          <a:p>
            <a:pPr indent="0" marL="0">
              <a:buNone/>
            </a:pPr>
            <a:r>
              <a:rPr lang="en-US" sz="1800" i="1" dirty="0">
                <a:solidFill>
                  <a:schemeClr val="bg1"/>
                </a:solidFill>
                <a:latin typeface="Calibri" pitchFamily="34" charset="0"/>
                <a:ea typeface="Calibri" pitchFamily="34" charset="-122"/>
                <a:cs typeface="Calibri" pitchFamily="34" charset="-120"/>
              </a:rPr>
              <a:t>payments_ex@yourhost fails payments now and then. Find out why.</a:t>
            </a:r>
            <a:endParaRPr lang="en-US" sz="1800" dirty="0"/>
          </a:p>
        </p:txBody>
      </p:sp>
      <p:sp>
        <p:nvSpPr>
          <p:cNvPr id="7" name="It fails now and then circle"/>
          <p:cNvSpPr/>
          <p:nvPr/>
        </p:nvSpPr>
        <p:spPr>
          <a:xfrm>
            <a:off x="7452360" y="2606040"/>
            <a:ext cx="1188720" cy="1188720"/>
          </a:xfrm>
          <a:prstGeom prst="ellipse">
            <a:avLst/>
          </a:prstGeom>
          <a:solidFill>
            <a:schemeClr val="accent1"/>
          </a:solidFill>
          <a:ln w="12700">
            <a:solidFill>
              <a:schemeClr val="accent1"/>
            </a:solidFill>
            <a:prstDash val="solid"/>
          </a:ln>
        </p:spPr>
      </p:sp>
      <p:pic>
        <p:nvPicPr>
          <p:cNvPr id="8" name="It fails now and then icon" descr="It fails now and then">    </p:cNvPr>
          <p:cNvPicPr>
            <a:picLocks noChangeAspect="1"/>
          </p:cNvPicPr>
          <p:nvPr/>
        </p:nvPicPr>
        <p:blipFill>
          <a:blip r:embed="rId1"/>
          <a:stretch>
            <a:fillRect/>
          </a:stretch>
        </p:blipFill>
        <p:spPr>
          <a:xfrm>
            <a:off x="7737653" y="2891333"/>
            <a:ext cx="618134" cy="61813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One diagnose call found it</a:t>
            </a:r>
            <a:endParaRPr lang="en-US" sz="3200" dirty="0"/>
          </a:p>
        </p:txBody>
      </p:sp>
      <p:sp>
        <p:nvSpPr>
          <p:cNvPr id="3" name="diagnose output"/>
          <p:cNvSpPr/>
          <p:nvPr/>
        </p:nvSpPr>
        <p:spPr>
          <a:xfrm>
            <a:off x="457200" y="1188720"/>
            <a:ext cx="4480560" cy="3291840"/>
          </a:xfrm>
          <a:prstGeom prst="roundRect">
            <a:avLst>
              <a:gd name="adj" fmla="val 2222"/>
            </a:avLst>
          </a:prstGeom>
          <a:solidFill>
            <a:schemeClr val="tx1"/>
          </a:solidFill>
          <a:ln w="12700">
            <a:solidFill>
              <a:schemeClr val="tx1"/>
            </a:solidFill>
            <a:prstDash val="solid"/>
          </a:ln>
          <a:effectLst>
            <a:outerShdw sx="100000" sy="100000" kx="0" ky="0" algn="bl" rotWithShape="0" blurRad="76200" dist="25400" dir="5400000">
              <a:srgbClr val="3A1D4A">
                <a:alpha val="12000"/>
              </a:srgbClr>
            </a:outerShdw>
          </a:effectLst>
        </p:spPr>
      </p:sp>
      <p:sp>
        <p:nvSpPr>
          <p:cNvPr id="4" name="Text 2"/>
          <p:cNvSpPr txBox="1"/>
          <p:nvPr/>
        </p:nvSpPr>
        <p:spPr>
          <a:xfrm>
            <a:off x="685800" y="1371600"/>
            <a:ext cx="4023360" cy="292608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supervisor_restarts: warning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Payments.Supervisor  one_for_one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restarts_in_window: 11   max: 15 in 10 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restarting: Payments.Gateway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exit: badarg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erlang:binary_to_integer(&lt;&lt;"443x"&gt;&gt;)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Payments.Gateway.handle_info/2</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payments.exs, line 26</a:t>
            </a:r>
            <a:endParaRPr lang="en-US" sz="1200" dirty="0"/>
          </a:p>
        </p:txBody>
      </p:sp>
      <p:sp>
        <p:nvSpPr>
          <p:cNvPr id="5" name="Who circle"/>
          <p:cNvSpPr/>
          <p:nvPr/>
        </p:nvSpPr>
        <p:spPr>
          <a:xfrm>
            <a:off x="5257800" y="1234440"/>
            <a:ext cx="548640" cy="548640"/>
          </a:xfrm>
          <a:prstGeom prst="ellipse">
            <a:avLst/>
          </a:prstGeom>
          <a:solidFill>
            <a:schemeClr val="accent1"/>
          </a:solidFill>
          <a:ln w="12700">
            <a:solidFill>
              <a:schemeClr val="accent1"/>
            </a:solidFill>
            <a:prstDash val="solid"/>
          </a:ln>
        </p:spPr>
      </p:sp>
      <p:pic>
        <p:nvPicPr>
          <p:cNvPr id="6" name="Who icon" descr="Who">    </p:cNvPr>
          <p:cNvPicPr>
            <a:picLocks noChangeAspect="1"/>
          </p:cNvPicPr>
          <p:nvPr/>
        </p:nvPicPr>
        <p:blipFill>
          <a:blip r:embed="rId1"/>
          <a:stretch>
            <a:fillRect/>
          </a:stretch>
        </p:blipFill>
        <p:spPr>
          <a:xfrm>
            <a:off x="5389474" y="1366114"/>
            <a:ext cx="285293" cy="285293"/>
          </a:xfrm>
          <a:prstGeom prst="rect">
            <a:avLst/>
          </a:prstGeom>
        </p:spPr>
      </p:pic>
      <p:sp>
        <p:nvSpPr>
          <p:cNvPr id="7" name="Text 4"/>
          <p:cNvSpPr txBox="1"/>
          <p:nvPr/>
        </p:nvSpPr>
        <p:spPr>
          <a:xfrm>
            <a:off x="5989320" y="1216152"/>
            <a:ext cx="269748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Who</a:t>
            </a:r>
            <a:endParaRPr lang="en-US" sz="1600" dirty="0"/>
          </a:p>
        </p:txBody>
      </p:sp>
      <p:sp>
        <p:nvSpPr>
          <p:cNvPr id="8" name="Text 5"/>
          <p:cNvSpPr txBox="1"/>
          <p:nvPr/>
        </p:nvSpPr>
        <p:spPr>
          <a:xfrm>
            <a:off x="5989320" y="1554480"/>
            <a:ext cx="269748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Payments.Gateway, which died while the check watched</a:t>
            </a:r>
            <a:endParaRPr lang="en-US" sz="1400" dirty="0"/>
          </a:p>
        </p:txBody>
      </p:sp>
      <p:sp>
        <p:nvSpPr>
          <p:cNvPr id="9" name="Why circle"/>
          <p:cNvSpPr/>
          <p:nvPr/>
        </p:nvSpPr>
        <p:spPr>
          <a:xfrm>
            <a:off x="5257800" y="2331720"/>
            <a:ext cx="548640" cy="548640"/>
          </a:xfrm>
          <a:prstGeom prst="ellipse">
            <a:avLst/>
          </a:prstGeom>
          <a:solidFill>
            <a:schemeClr val="accent2"/>
          </a:solidFill>
          <a:ln w="12700">
            <a:solidFill>
              <a:schemeClr val="accent2"/>
            </a:solidFill>
            <a:prstDash val="solid"/>
          </a:ln>
        </p:spPr>
      </p:sp>
      <p:pic>
        <p:nvPicPr>
          <p:cNvPr id="10" name="Why icon" descr="Why">    </p:cNvPr>
          <p:cNvPicPr>
            <a:picLocks noChangeAspect="1"/>
          </p:cNvPicPr>
          <p:nvPr/>
        </p:nvPicPr>
        <p:blipFill>
          <a:blip r:embed="rId2"/>
          <a:stretch>
            <a:fillRect/>
          </a:stretch>
        </p:blipFill>
        <p:spPr>
          <a:xfrm>
            <a:off x="5389474" y="2463394"/>
            <a:ext cx="285293" cy="285293"/>
          </a:xfrm>
          <a:prstGeom prst="rect">
            <a:avLst/>
          </a:prstGeom>
        </p:spPr>
      </p:pic>
      <p:sp>
        <p:nvSpPr>
          <p:cNvPr id="11" name="Text 7"/>
          <p:cNvSpPr txBox="1"/>
          <p:nvPr/>
        </p:nvSpPr>
        <p:spPr>
          <a:xfrm>
            <a:off x="5989320" y="2313432"/>
            <a:ext cx="269748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Why</a:t>
            </a:r>
            <a:endParaRPr lang="en-US" sz="1600" dirty="0"/>
          </a:p>
        </p:txBody>
      </p:sp>
      <p:sp>
        <p:nvSpPr>
          <p:cNvPr id="12" name="Text 8"/>
          <p:cNvSpPr txBox="1"/>
          <p:nvPr/>
        </p:nvSpPr>
        <p:spPr>
          <a:xfrm>
            <a:off x="5989320" y="2651760"/>
            <a:ext cx="269748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malformed port in its URL: "443x"</a:t>
            </a:r>
            <a:endParaRPr lang="en-US" sz="1400" dirty="0"/>
          </a:p>
        </p:txBody>
      </p:sp>
      <p:sp>
        <p:nvSpPr>
          <p:cNvPr id="13" name="Why now and then circle"/>
          <p:cNvSpPr/>
          <p:nvPr/>
        </p:nvSpPr>
        <p:spPr>
          <a:xfrm>
            <a:off x="5257800" y="3429000"/>
            <a:ext cx="548640" cy="548640"/>
          </a:xfrm>
          <a:prstGeom prst="ellipse">
            <a:avLst/>
          </a:prstGeom>
          <a:solidFill>
            <a:schemeClr val="accent3"/>
          </a:solidFill>
          <a:ln w="12700">
            <a:solidFill>
              <a:schemeClr val="accent3"/>
            </a:solidFill>
            <a:prstDash val="solid"/>
          </a:ln>
        </p:spPr>
      </p:sp>
      <p:pic>
        <p:nvPicPr>
          <p:cNvPr id="14" name="Why now and then icon" descr="Why now and then">    </p:cNvPr>
          <p:cNvPicPr>
            <a:picLocks noChangeAspect="1"/>
          </p:cNvPicPr>
          <p:nvPr/>
        </p:nvPicPr>
        <p:blipFill>
          <a:blip r:embed="rId3"/>
          <a:stretch>
            <a:fillRect/>
          </a:stretch>
        </p:blipFill>
        <p:spPr>
          <a:xfrm>
            <a:off x="5389474" y="3560674"/>
            <a:ext cx="285293" cy="285293"/>
          </a:xfrm>
          <a:prstGeom prst="rect">
            <a:avLst/>
          </a:prstGeom>
        </p:spPr>
      </p:pic>
      <p:sp>
        <p:nvSpPr>
          <p:cNvPr id="15" name="Text 10"/>
          <p:cNvSpPr txBox="1"/>
          <p:nvPr/>
        </p:nvSpPr>
        <p:spPr>
          <a:xfrm>
            <a:off x="5989320" y="3410712"/>
            <a:ext cx="269748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Why now and then</a:t>
            </a:r>
            <a:endParaRPr lang="en-US" sz="1600" dirty="0"/>
          </a:p>
        </p:txBody>
      </p:sp>
      <p:sp>
        <p:nvSpPr>
          <p:cNvPr id="16" name="Text 11"/>
          <p:cNvSpPr txBox="1"/>
          <p:nvPr/>
        </p:nvSpPr>
        <p:spPr>
          <a:xfrm>
            <a:off x="5989320" y="3749040"/>
            <a:ext cx="269748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11 restarts in 10 s, limit 15: the supervisor never gives up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Trying the fix on the live node</a:t>
            </a:r>
            <a:endParaRPr lang="en-US" sz="3200" dirty="0"/>
          </a:p>
        </p:txBody>
      </p:sp>
      <p:sp>
        <p:nvSpPr>
          <p:cNvPr id="3" name="Approval dialog"/>
          <p:cNvSpPr/>
          <p:nvPr/>
        </p:nvSpPr>
        <p:spPr>
          <a:xfrm>
            <a:off x="457200" y="1188720"/>
            <a:ext cx="4206240" cy="2011680"/>
          </a:xfrm>
          <a:prstGeom prst="roundRect">
            <a:avLst>
              <a:gd name="adj" fmla="val 3636"/>
            </a:avLst>
          </a:prstGeom>
          <a:solidFill>
            <a:schemeClr val="tx1"/>
          </a:solidFill>
          <a:ln w="12700">
            <a:solidFill>
              <a:schemeClr val="tx1"/>
            </a:solidFill>
            <a:prstDash val="solid"/>
          </a:ln>
          <a:effectLst>
            <a:outerShdw sx="100000" sy="100000" kx="0" ky="0" algn="bl" rotWithShape="0" blurRad="76200" dist="25400" dir="5400000">
              <a:srgbClr val="3A1D4A">
                <a:alpha val="12000"/>
              </a:srgbClr>
            </a:outerShdw>
          </a:effectLst>
        </p:spPr>
      </p:sp>
      <p:sp>
        <p:nvSpPr>
          <p:cNvPr id="4" name="Text 2"/>
          <p:cNvSpPr txBox="1"/>
          <p:nvPr/>
        </p:nvSpPr>
        <p:spPr>
          <a:xfrm>
            <a:off x="685800" y="1371600"/>
            <a:ext cx="3749040" cy="164592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Load new code for Payments.Gateway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on payments_ex@yourhost?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New code:    md5 13d019f3…</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Running now: md5 efd7f714…</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[x] Load it    Accept  Decline</a:t>
            </a:r>
            <a:endParaRPr lang="en-US" sz="1200" dirty="0"/>
          </a:p>
        </p:txBody>
      </p:sp>
      <p:sp>
        <p:nvSpPr>
          <p:cNvPr id="5" name="Text 3"/>
          <p:cNvSpPr txBox="1"/>
          <p:nvPr/>
        </p:nvSpPr>
        <p:spPr>
          <a:xfrm>
            <a:off x="457200" y="3383280"/>
            <a:ext cx="420624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load_module asks every time, in a dialog from the server. It lasts until the node restarts: deploy the fix too.</a:t>
            </a:r>
            <a:endParaRPr lang="en-US" sz="1400" dirty="0"/>
          </a:p>
        </p:txBody>
      </p:sp>
      <p:sp>
        <p:nvSpPr>
          <p:cNvPr id="6" name="Restarts card"/>
          <p:cNvSpPr/>
          <p:nvPr/>
        </p:nvSpPr>
        <p:spPr>
          <a:xfrm>
            <a:off x="4937760" y="1188720"/>
            <a:ext cx="3749040" cy="3291840"/>
          </a:xfrm>
          <a:prstGeom prst="roundRect">
            <a:avLst>
              <a:gd name="adj" fmla="val 2222"/>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7" name="Text 5"/>
          <p:cNvSpPr txBox="1"/>
          <p:nvPr/>
        </p:nvSpPr>
        <p:spPr>
          <a:xfrm>
            <a:off x="5120640" y="1325880"/>
            <a:ext cx="3383280" cy="32004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Restarts in the 10 s window</a:t>
            </a:r>
            <a:endParaRPr lang="en-US" sz="1400" dirty="0"/>
          </a:p>
        </p:txBody>
      </p:sp>
      <p:sp>
        <p:nvSpPr>
          <p:cNvPr id="8" name="Before bar"/>
          <p:cNvSpPr/>
          <p:nvPr/>
        </p:nvSpPr>
        <p:spPr>
          <a:xfrm>
            <a:off x="5257800" y="2020824"/>
            <a:ext cx="685800" cy="1911096"/>
          </a:xfrm>
          <a:prstGeom prst="rect">
            <a:avLst/>
          </a:prstGeom>
          <a:solidFill>
            <a:schemeClr val="accent1"/>
          </a:solidFill>
          <a:ln w="12700">
            <a:solidFill>
              <a:schemeClr val="accent1"/>
            </a:solidFill>
            <a:prstDash val="solid"/>
          </a:ln>
        </p:spPr>
      </p:sp>
      <p:sp>
        <p:nvSpPr>
          <p:cNvPr id="9" name="Text 7"/>
          <p:cNvSpPr txBox="1"/>
          <p:nvPr/>
        </p:nvSpPr>
        <p:spPr>
          <a:xfrm>
            <a:off x="5074920" y="1655064"/>
            <a:ext cx="1051560" cy="320040"/>
          </a:xfrm>
          <a:prstGeom prst="rect">
            <a:avLst/>
          </a:prstGeom>
          <a:noFill/>
          <a:ln/>
        </p:spPr>
        <p:txBody>
          <a:bodyPr wrap="square" lIns="0" tIns="0" rIns="0" bIns="0" rtlCol="0" anchor="b"/>
          <a:lstStyle/>
          <a:p>
            <a:pPr algn="ctr" indent="0" marL="0">
              <a:buNone/>
            </a:pPr>
            <a:r>
              <a:rPr lang="en-US" sz="1600" b="1" dirty="0">
                <a:solidFill>
                  <a:schemeClr val="tx1"/>
                </a:solidFill>
                <a:latin typeface="Calibri" pitchFamily="34" charset="0"/>
                <a:ea typeface="Calibri" pitchFamily="34" charset="-122"/>
                <a:cs typeface="Calibri" pitchFamily="34" charset="-120"/>
              </a:rPr>
              <a:t>11</a:t>
            </a:r>
            <a:endParaRPr lang="en-US" sz="1600" dirty="0"/>
          </a:p>
        </p:txBody>
      </p:sp>
      <p:sp>
        <p:nvSpPr>
          <p:cNvPr id="10" name="Text 8"/>
          <p:cNvSpPr txBox="1"/>
          <p:nvPr/>
        </p:nvSpPr>
        <p:spPr>
          <a:xfrm>
            <a:off x="5029200" y="4005072"/>
            <a:ext cx="1143000" cy="27432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Before</a:t>
            </a:r>
            <a:endParaRPr lang="en-US" sz="1200" dirty="0"/>
          </a:p>
        </p:txBody>
      </p:sp>
      <p:sp>
        <p:nvSpPr>
          <p:cNvPr id="11" name="3 s after bar"/>
          <p:cNvSpPr/>
          <p:nvPr/>
        </p:nvSpPr>
        <p:spPr>
          <a:xfrm>
            <a:off x="6355080" y="2542032"/>
            <a:ext cx="685800" cy="1389888"/>
          </a:xfrm>
          <a:prstGeom prst="rect">
            <a:avLst/>
          </a:prstGeom>
          <a:solidFill>
            <a:schemeClr val="accent2"/>
          </a:solidFill>
          <a:ln w="12700">
            <a:solidFill>
              <a:schemeClr val="accent2"/>
            </a:solidFill>
            <a:prstDash val="solid"/>
          </a:ln>
        </p:spPr>
      </p:sp>
      <p:sp>
        <p:nvSpPr>
          <p:cNvPr id="12" name="Text 10"/>
          <p:cNvSpPr txBox="1"/>
          <p:nvPr/>
        </p:nvSpPr>
        <p:spPr>
          <a:xfrm>
            <a:off x="6172200" y="2176272"/>
            <a:ext cx="1051560" cy="320040"/>
          </a:xfrm>
          <a:prstGeom prst="rect">
            <a:avLst/>
          </a:prstGeom>
          <a:noFill/>
          <a:ln/>
        </p:spPr>
        <p:txBody>
          <a:bodyPr wrap="square" lIns="0" tIns="0" rIns="0" bIns="0" rtlCol="0" anchor="b"/>
          <a:lstStyle/>
          <a:p>
            <a:pPr algn="ctr" indent="0" marL="0">
              <a:buNone/>
            </a:pPr>
            <a:r>
              <a:rPr lang="en-US" sz="1600" b="1" dirty="0">
                <a:solidFill>
                  <a:schemeClr val="tx1"/>
                </a:solidFill>
                <a:latin typeface="Calibri" pitchFamily="34" charset="0"/>
                <a:ea typeface="Calibri" pitchFamily="34" charset="-122"/>
                <a:cs typeface="Calibri" pitchFamily="34" charset="-120"/>
              </a:rPr>
              <a:t>8</a:t>
            </a:r>
            <a:endParaRPr lang="en-US" sz="1600" dirty="0"/>
          </a:p>
        </p:txBody>
      </p:sp>
      <p:sp>
        <p:nvSpPr>
          <p:cNvPr id="13" name="Text 11"/>
          <p:cNvSpPr txBox="1"/>
          <p:nvPr/>
        </p:nvSpPr>
        <p:spPr>
          <a:xfrm>
            <a:off x="6126480" y="4005072"/>
            <a:ext cx="1143000" cy="27432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3 s after</a:t>
            </a:r>
            <a:endParaRPr lang="en-US" sz="1200" dirty="0"/>
          </a:p>
        </p:txBody>
      </p:sp>
      <p:sp>
        <p:nvSpPr>
          <p:cNvPr id="14" name="9 s after bar"/>
          <p:cNvSpPr/>
          <p:nvPr/>
        </p:nvSpPr>
        <p:spPr>
          <a:xfrm>
            <a:off x="7452360" y="3584448"/>
            <a:ext cx="685800" cy="347472"/>
          </a:xfrm>
          <a:prstGeom prst="rect">
            <a:avLst/>
          </a:prstGeom>
          <a:solidFill>
            <a:schemeClr val="accent4"/>
          </a:solidFill>
          <a:ln w="12700">
            <a:solidFill>
              <a:schemeClr val="accent4"/>
            </a:solidFill>
            <a:prstDash val="solid"/>
          </a:ln>
        </p:spPr>
      </p:sp>
      <p:sp>
        <p:nvSpPr>
          <p:cNvPr id="15" name="Text 13"/>
          <p:cNvSpPr txBox="1"/>
          <p:nvPr/>
        </p:nvSpPr>
        <p:spPr>
          <a:xfrm>
            <a:off x="7269480" y="3218688"/>
            <a:ext cx="1051560" cy="320040"/>
          </a:xfrm>
          <a:prstGeom prst="rect">
            <a:avLst/>
          </a:prstGeom>
          <a:noFill/>
          <a:ln/>
        </p:spPr>
        <p:txBody>
          <a:bodyPr wrap="square" lIns="0" tIns="0" rIns="0" bIns="0" rtlCol="0" anchor="b"/>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6" name="Text 14"/>
          <p:cNvSpPr txBox="1"/>
          <p:nvPr/>
        </p:nvSpPr>
        <p:spPr>
          <a:xfrm>
            <a:off x="7223760" y="4005072"/>
            <a:ext cx="1143000" cy="27432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9 s after</a:t>
            </a:r>
            <a:endParaRPr lang="en-US" sz="1200" dirty="0"/>
          </a:p>
        </p:txBody>
      </p:sp>
      <p:sp>
        <p:nvSpPr>
          <p:cNvPr id="17" name="Baseline"/>
          <p:cNvSpPr/>
          <p:nvPr/>
        </p:nvSpPr>
        <p:spPr>
          <a:xfrm>
            <a:off x="5120640" y="3931920"/>
            <a:ext cx="3383280" cy="0"/>
          </a:xfrm>
          <a:prstGeom prst="line">
            <a:avLst/>
          </a:prstGeom>
          <a:noFill/>
          <a:ln w="12700">
            <a:solidFill>
              <a:schemeClr val="accent6"/>
            </a:solidFill>
            <a:prstDash val="solid"/>
          </a:ln>
        </p:spPr>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046720" cy="365760"/>
          </a:xfrm>
          <a:prstGeom prst="rect">
            <a:avLst/>
          </a:prstGeom>
          <a:noFill/>
          <a:ln/>
        </p:spPr>
        <p:txBody>
          <a:bodyPr wrap="square" lIns="0" tIns="0" rIns="0" bIns="0" rtlCol="0" anchor="ctr"/>
          <a:lstStyle/>
          <a:p>
            <a:pPr algn="l" indent="0" marL="0">
              <a:buNone/>
            </a:pPr>
            <a:r>
              <a:rPr lang="en-US" sz="1600" b="1" dirty="0">
                <a:solidFill>
                  <a:schemeClr val="accent6"/>
                </a:solidFill>
                <a:latin typeface="Calibri" pitchFamily="34" charset="0"/>
                <a:ea typeface="Calibri" pitchFamily="34" charset="-122"/>
                <a:cs typeface="Calibri" pitchFamily="34" charset="-120"/>
              </a:rPr>
              <a:t>SCENARIO 2</a:t>
            </a:r>
            <a:endParaRPr lang="en-US" sz="1600" dirty="0"/>
          </a:p>
        </p:txBody>
      </p:sp>
      <p:sp>
        <p:nvSpPr>
          <p:cNvPr id="3" name="Text 0"/>
          <p:cNvSpPr/>
          <p:nvPr>
            <p:ph idx="101" type="title" hasCustomPrompt="1"/>
          </p:nvPr>
        </p:nvSpPr>
        <p:spPr>
          <a:xfrm>
            <a:off x="548640" y="1051560"/>
            <a:ext cx="804672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Healthy numbers, losing orders</a:t>
            </a:r>
            <a:endParaRPr lang="en-US" sz="3600" dirty="0"/>
          </a:p>
        </p:txBody>
      </p:sp>
      <p:sp>
        <p:nvSpPr>
          <p:cNvPr id="4" name="Prompt card"/>
          <p:cNvSpPr/>
          <p:nvPr/>
        </p:nvSpPr>
        <p:spPr>
          <a:xfrm>
            <a:off x="548640" y="2240280"/>
            <a:ext cx="6675120" cy="1920240"/>
          </a:xfrm>
          <a:prstGeom prst="roundRect">
            <a:avLst>
              <a:gd name="adj" fmla="val 3810"/>
            </a:avLst>
          </a:prstGeom>
          <a:solidFill>
            <a:schemeClr val="tx1"/>
          </a:solidFill>
          <a:ln w="12700">
            <a:solidFill>
              <a:schemeClr val="tx1"/>
            </a:solidFill>
            <a:prstDash val="solid"/>
          </a:ln>
        </p:spPr>
      </p:sp>
      <p:sp>
        <p:nvSpPr>
          <p:cNvPr id="5" name="Text 3"/>
          <p:cNvSpPr txBox="1"/>
          <p:nvPr/>
        </p:nvSpPr>
        <p:spPr>
          <a:xfrm>
            <a:off x="822960" y="2423160"/>
            <a:ext cx="6126480" cy="320040"/>
          </a:xfrm>
          <a:prstGeom prst="rect">
            <a:avLst/>
          </a:prstGeom>
          <a:noFill/>
          <a:ln/>
        </p:spPr>
        <p:txBody>
          <a:bodyPr wrap="square" lIns="0" tIns="0" rIns="0" bIns="0" rtlCol="0" anchor="t"/>
          <a:lstStyle/>
          <a:p>
            <a:pPr indent="0" marL="0">
              <a:buNone/>
            </a:pPr>
            <a:r>
              <a:rPr lang="en-US" sz="1300" b="1" dirty="0">
                <a:solidFill>
                  <a:schemeClr val="accent6"/>
                </a:solidFill>
                <a:latin typeface="Calibri" pitchFamily="34" charset="0"/>
                <a:ea typeface="Calibri" pitchFamily="34" charset="-122"/>
                <a:cs typeface="Calibri" pitchFamily="34" charset="-120"/>
              </a:rPr>
              <a:t>The prompt</a:t>
            </a:r>
            <a:endParaRPr lang="en-US" sz="1300" dirty="0"/>
          </a:p>
        </p:txBody>
      </p:sp>
      <p:sp>
        <p:nvSpPr>
          <p:cNvPr id="6" name="Text 4"/>
          <p:cNvSpPr txBox="1"/>
          <p:nvPr/>
        </p:nvSpPr>
        <p:spPr>
          <a:xfrm>
            <a:off x="822960" y="2788920"/>
            <a:ext cx="6126480" cy="1234440"/>
          </a:xfrm>
          <a:prstGeom prst="rect">
            <a:avLst/>
          </a:prstGeom>
          <a:noFill/>
          <a:ln/>
        </p:spPr>
        <p:txBody>
          <a:bodyPr wrap="square" lIns="0" tIns="0" rIns="0" bIns="0" rtlCol="0" anchor="t"/>
          <a:lstStyle/>
          <a:p>
            <a:pPr indent="0" marL="0">
              <a:buNone/>
            </a:pPr>
            <a:r>
              <a:rPr lang="en-US" sz="1800" i="1" dirty="0">
                <a:solidFill>
                  <a:schemeClr val="bg1"/>
                </a:solidFill>
                <a:latin typeface="Calibri" pitchFamily="34" charset="0"/>
                <a:ea typeface="Calibri" pitchFamily="34" charset="-122"/>
                <a:cs typeface="Calibri" pitchFamily="34" charset="-120"/>
              </a:rPr>
              <a:t>orders_erl@yourhost loses some of the orders it imports, and payments fail now and then, but its numbers look healthy. Find out why.</a:t>
            </a:r>
            <a:endParaRPr lang="en-US" sz="1800" dirty="0"/>
          </a:p>
        </p:txBody>
      </p:sp>
      <p:sp>
        <p:nvSpPr>
          <p:cNvPr id="7" name="Healthy numbers, losing orders circle"/>
          <p:cNvSpPr/>
          <p:nvPr/>
        </p:nvSpPr>
        <p:spPr>
          <a:xfrm>
            <a:off x="7452360" y="2606040"/>
            <a:ext cx="1188720" cy="1188720"/>
          </a:xfrm>
          <a:prstGeom prst="ellipse">
            <a:avLst/>
          </a:prstGeom>
          <a:solidFill>
            <a:schemeClr val="accent1"/>
          </a:solidFill>
          <a:ln w="12700">
            <a:solidFill>
              <a:schemeClr val="accent1"/>
            </a:solidFill>
            <a:prstDash val="solid"/>
          </a:ln>
        </p:spPr>
      </p:sp>
      <p:pic>
        <p:nvPicPr>
          <p:cNvPr id="8" name="Healthy numbers, losing orders icon" descr="Healthy numbers, losing orders">    </p:cNvPr>
          <p:cNvPicPr>
            <a:picLocks noChangeAspect="1"/>
          </p:cNvPicPr>
          <p:nvPr/>
        </p:nvPicPr>
        <p:blipFill>
          <a:blip r:embed="rId1"/>
          <a:stretch>
            <a:fillRect/>
          </a:stretch>
        </p:blipFill>
        <p:spPr>
          <a:xfrm>
            <a:off x="7737653" y="2891333"/>
            <a:ext cx="618134" cy="6181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recent_errors: 15 seconds of listening</a:t>
            </a:r>
            <a:endParaRPr lang="en-US" sz="3200" dirty="0"/>
          </a:p>
        </p:txBody>
      </p:sp>
      <p:sp>
        <p:nvSpPr>
          <p:cNvPr id="3" name="Crash · 24 events, 8 processes card"/>
          <p:cNvSpPr/>
          <p:nvPr/>
        </p:nvSpPr>
        <p:spPr>
          <a:xfrm>
            <a:off x="457200" y="118872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4" name="Crash · 24 events, 8 processes circle"/>
          <p:cNvSpPr/>
          <p:nvPr/>
        </p:nvSpPr>
        <p:spPr>
          <a:xfrm>
            <a:off x="640080" y="1371600"/>
            <a:ext cx="457200" cy="457200"/>
          </a:xfrm>
          <a:prstGeom prst="ellipse">
            <a:avLst/>
          </a:prstGeom>
          <a:solidFill>
            <a:schemeClr val="accent1"/>
          </a:solidFill>
          <a:ln w="12700">
            <a:solidFill>
              <a:schemeClr val="accent1"/>
            </a:solidFill>
            <a:prstDash val="solid"/>
          </a:ln>
        </p:spPr>
      </p:sp>
      <p:pic>
        <p:nvPicPr>
          <p:cNvPr id="5" name="Crash · 24 events, 8 processes icon" descr="Crash · 24 events, 8 processes">    </p:cNvPr>
          <p:cNvPicPr>
            <a:picLocks noChangeAspect="1"/>
          </p:cNvPicPr>
          <p:nvPr/>
        </p:nvPicPr>
        <p:blipFill>
          <a:blip r:embed="rId1"/>
          <a:stretch>
            <a:fillRect/>
          </a:stretch>
        </p:blipFill>
        <p:spPr>
          <a:xfrm>
            <a:off x="749808" y="1481328"/>
            <a:ext cx="237744" cy="237744"/>
          </a:xfrm>
          <a:prstGeom prst="rect">
            <a:avLst/>
          </a:prstGeom>
        </p:spPr>
      </p:pic>
      <p:sp>
        <p:nvSpPr>
          <p:cNvPr id="6" name="Text 3"/>
          <p:cNvSpPr txBox="1"/>
          <p:nvPr/>
        </p:nvSpPr>
        <p:spPr>
          <a:xfrm>
            <a:off x="1234440" y="1435608"/>
            <a:ext cx="3108960" cy="32004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Crash · 24 events, 8 processes</a:t>
            </a:r>
            <a:endParaRPr lang="en-US" sz="1300" dirty="0"/>
          </a:p>
        </p:txBody>
      </p:sp>
      <p:sp>
        <p:nvSpPr>
          <p:cNvPr id="7" name="Text 4"/>
          <p:cNvSpPr txBox="1"/>
          <p:nvPr/>
        </p:nvSpPr>
        <p:spPr>
          <a:xfrm>
            <a:off x="640080" y="1965960"/>
            <a:ext cx="3657600" cy="45720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orders_importer: badarg</a:t>
            </a:r>
            <a:endParaRPr lang="en-US" sz="1300" dirty="0"/>
          </a:p>
        </p:txBody>
      </p:sp>
      <p:sp>
        <p:nvSpPr>
          <p:cNvPr id="8" name="Text 5"/>
          <p:cNvSpPr txBox="1"/>
          <p:nvPr/>
        </p:nvSpPr>
        <p:spPr>
          <a:xfrm>
            <a:off x="640080" y="2441448"/>
            <a:ext cx="3657600" cy="256032"/>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called with [&lt;&lt;"n/a"&gt;&gt;], orders_importer.erl:26</a:t>
            </a:r>
            <a:endParaRPr lang="en-US" sz="1200" dirty="0"/>
          </a:p>
        </p:txBody>
      </p:sp>
      <p:sp>
        <p:nvSpPr>
          <p:cNvPr id="9" name="Error · logged twice card"/>
          <p:cNvSpPr/>
          <p:nvPr/>
        </p:nvSpPr>
        <p:spPr>
          <a:xfrm>
            <a:off x="4663440" y="118872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0" name="Error · logged twice circle"/>
          <p:cNvSpPr/>
          <p:nvPr/>
        </p:nvSpPr>
        <p:spPr>
          <a:xfrm>
            <a:off x="4846320" y="1371600"/>
            <a:ext cx="457200" cy="457200"/>
          </a:xfrm>
          <a:prstGeom prst="ellipse">
            <a:avLst/>
          </a:prstGeom>
          <a:solidFill>
            <a:schemeClr val="accent1"/>
          </a:solidFill>
          <a:ln w="12700">
            <a:solidFill>
              <a:schemeClr val="accent1"/>
            </a:solidFill>
            <a:prstDash val="solid"/>
          </a:ln>
        </p:spPr>
      </p:sp>
      <p:pic>
        <p:nvPicPr>
          <p:cNvPr id="11" name="Error · logged twice icon" descr="Error · logged twice">    </p:cNvPr>
          <p:cNvPicPr>
            <a:picLocks noChangeAspect="1"/>
          </p:cNvPicPr>
          <p:nvPr/>
        </p:nvPicPr>
        <p:blipFill>
          <a:blip r:embed="rId2"/>
          <a:stretch>
            <a:fillRect/>
          </a:stretch>
        </p:blipFill>
        <p:spPr>
          <a:xfrm>
            <a:off x="4956048" y="1481328"/>
            <a:ext cx="237744" cy="237744"/>
          </a:xfrm>
          <a:prstGeom prst="rect">
            <a:avLst/>
          </a:prstGeom>
        </p:spPr>
      </p:pic>
      <p:sp>
        <p:nvSpPr>
          <p:cNvPr id="12" name="Text 8"/>
          <p:cNvSpPr txBox="1"/>
          <p:nvPr/>
        </p:nvSpPr>
        <p:spPr>
          <a:xfrm>
            <a:off x="5440680" y="1435608"/>
            <a:ext cx="3108960" cy="32004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Error · logged twice</a:t>
            </a:r>
            <a:endParaRPr lang="en-US" sz="1300" dirty="0"/>
          </a:p>
        </p:txBody>
      </p:sp>
      <p:sp>
        <p:nvSpPr>
          <p:cNvPr id="13" name="Text 9"/>
          <p:cNvSpPr txBox="1"/>
          <p:nvPr/>
        </p:nvSpPr>
        <p:spPr>
          <a:xfrm>
            <a:off x="4846320" y="1965960"/>
            <a:ext cx="3657600" cy="45720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payment for order 2074 failed: {provider,timeout}</a:t>
            </a:r>
            <a:endParaRPr lang="en-US" sz="1300" dirty="0"/>
          </a:p>
        </p:txBody>
      </p:sp>
      <p:sp>
        <p:nvSpPr>
          <p:cNvPr id="14" name="Text 10"/>
          <p:cNvSpPr txBox="1"/>
          <p:nvPr/>
        </p:nvSpPr>
        <p:spPr>
          <a:xfrm>
            <a:off x="4846320" y="2441448"/>
            <a:ext cx="3657600" cy="256032"/>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logged at orders_payments.erl:24</a:t>
            </a:r>
            <a:endParaRPr lang="en-US" sz="1200" dirty="0"/>
          </a:p>
        </p:txBody>
      </p:sp>
      <p:sp>
        <p:nvSpPr>
          <p:cNvPr id="15" name="Warning · 12 events card"/>
          <p:cNvSpPr/>
          <p:nvPr/>
        </p:nvSpPr>
        <p:spPr>
          <a:xfrm>
            <a:off x="457200" y="288036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6" name="Warning · 12 events circle"/>
          <p:cNvSpPr/>
          <p:nvPr/>
        </p:nvSpPr>
        <p:spPr>
          <a:xfrm>
            <a:off x="640080" y="3063240"/>
            <a:ext cx="457200" cy="457200"/>
          </a:xfrm>
          <a:prstGeom prst="ellipse">
            <a:avLst/>
          </a:prstGeom>
          <a:solidFill>
            <a:schemeClr val="accent3"/>
          </a:solidFill>
          <a:ln w="12700">
            <a:solidFill>
              <a:schemeClr val="accent3"/>
            </a:solidFill>
            <a:prstDash val="solid"/>
          </a:ln>
        </p:spPr>
      </p:sp>
      <p:pic>
        <p:nvPicPr>
          <p:cNvPr id="17" name="Warning · 12 events icon" descr="Warning · 12 events">    </p:cNvPr>
          <p:cNvPicPr>
            <a:picLocks noChangeAspect="1"/>
          </p:cNvPicPr>
          <p:nvPr/>
        </p:nvPicPr>
        <p:blipFill>
          <a:blip r:embed="rId3"/>
          <a:stretch>
            <a:fillRect/>
          </a:stretch>
        </p:blipFill>
        <p:spPr>
          <a:xfrm>
            <a:off x="749808" y="3172968"/>
            <a:ext cx="237744" cy="237744"/>
          </a:xfrm>
          <a:prstGeom prst="rect">
            <a:avLst/>
          </a:prstGeom>
        </p:spPr>
      </p:pic>
      <p:sp>
        <p:nvSpPr>
          <p:cNvPr id="18" name="Text 13"/>
          <p:cNvSpPr txBox="1"/>
          <p:nvPr/>
        </p:nvSpPr>
        <p:spPr>
          <a:xfrm>
            <a:off x="1234440" y="3127248"/>
            <a:ext cx="3108960" cy="32004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Warning · 12 events</a:t>
            </a:r>
            <a:endParaRPr lang="en-US" sz="1300" dirty="0"/>
          </a:p>
        </p:txBody>
      </p:sp>
      <p:sp>
        <p:nvSpPr>
          <p:cNvPr id="19" name="Text 14"/>
          <p:cNvSpPr txBox="1"/>
          <p:nvPr/>
        </p:nvSpPr>
        <p:spPr>
          <a:xfrm>
            <a:off x="640080" y="3657600"/>
            <a:ext cx="3657600" cy="45720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payment provider slow: 597 ms</a:t>
            </a:r>
            <a:endParaRPr lang="en-US" sz="1300" dirty="0"/>
          </a:p>
        </p:txBody>
      </p:sp>
      <p:sp>
        <p:nvSpPr>
          <p:cNvPr id="20" name="Text 15"/>
          <p:cNvSpPr txBox="1"/>
          <p:nvPr/>
        </p:nvSpPr>
        <p:spPr>
          <a:xfrm>
            <a:off x="640080" y="4133088"/>
            <a:ext cx="3657600" cy="256032"/>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logged at orders_payments.erl:26</a:t>
            </a:r>
            <a:endParaRPr lang="en-US" sz="1200" dirty="0"/>
          </a:p>
        </p:txBody>
      </p:sp>
      <p:sp>
        <p:nvSpPr>
          <p:cNvPr id="21" name="Log file · once, at boot card"/>
          <p:cNvSpPr/>
          <p:nvPr/>
        </p:nvSpPr>
        <p:spPr>
          <a:xfrm>
            <a:off x="4663440" y="288036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22" name="Log file · once, at boot circle"/>
          <p:cNvSpPr/>
          <p:nvPr/>
        </p:nvSpPr>
        <p:spPr>
          <a:xfrm>
            <a:off x="4846320" y="3063240"/>
            <a:ext cx="457200" cy="457200"/>
          </a:xfrm>
          <a:prstGeom prst="ellipse">
            <a:avLst/>
          </a:prstGeom>
          <a:solidFill>
            <a:schemeClr val="accent2"/>
          </a:solidFill>
          <a:ln w="12700">
            <a:solidFill>
              <a:schemeClr val="accent2"/>
            </a:solidFill>
            <a:prstDash val="solid"/>
          </a:ln>
        </p:spPr>
      </p:sp>
      <p:pic>
        <p:nvPicPr>
          <p:cNvPr id="23" name="Log file · once, at boot icon" descr="Log file · once, at boot">    </p:cNvPr>
          <p:cNvPicPr>
            <a:picLocks noChangeAspect="1"/>
          </p:cNvPicPr>
          <p:nvPr/>
        </p:nvPicPr>
        <p:blipFill>
          <a:blip r:embed="rId4"/>
          <a:stretch>
            <a:fillRect/>
          </a:stretch>
        </p:blipFill>
        <p:spPr>
          <a:xfrm>
            <a:off x="4956048" y="3172968"/>
            <a:ext cx="237744" cy="237744"/>
          </a:xfrm>
          <a:prstGeom prst="rect">
            <a:avLst/>
          </a:prstGeom>
        </p:spPr>
      </p:pic>
      <p:sp>
        <p:nvSpPr>
          <p:cNvPr id="24" name="Text 18"/>
          <p:cNvSpPr txBox="1"/>
          <p:nvPr/>
        </p:nvSpPr>
        <p:spPr>
          <a:xfrm>
            <a:off x="5440680" y="3127248"/>
            <a:ext cx="3108960" cy="320040"/>
          </a:xfrm>
          <a:prstGeom prst="rect">
            <a:avLst/>
          </a:prstGeom>
          <a:noFill/>
          <a:ln/>
        </p:spPr>
        <p:txBody>
          <a:bodyPr wrap="square" lIns="0" tIns="0" rIns="0" bIns="0" rtlCol="0" anchor="ctr"/>
          <a:lstStyle/>
          <a:p>
            <a:pPr indent="0" marL="0">
              <a:buNone/>
            </a:pPr>
            <a:r>
              <a:rPr lang="en-US" sz="1300" b="1" dirty="0">
                <a:solidFill>
                  <a:schemeClr val="accent2"/>
                </a:solidFill>
                <a:latin typeface="Calibri" pitchFamily="34" charset="0"/>
                <a:ea typeface="Calibri" pitchFamily="34" charset="-122"/>
                <a:cs typeface="Calibri" pitchFamily="34" charset="-120"/>
              </a:rPr>
              <a:t>Log file · once, at boot</a:t>
            </a:r>
            <a:endParaRPr lang="en-US" sz="1300" dirty="0"/>
          </a:p>
        </p:txBody>
      </p:sp>
      <p:sp>
        <p:nvSpPr>
          <p:cNvPr id="25" name="Text 19"/>
          <p:cNvSpPr txBox="1"/>
          <p:nvPr/>
        </p:nvSpPr>
        <p:spPr>
          <a:xfrm>
            <a:off x="4846320" y="3657600"/>
            <a:ext cx="3657600" cy="45720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pricing rules: couldn't read priv/pricing_rules.csv (enoent)</a:t>
            </a:r>
            <a:endParaRPr lang="en-US" sz="1300" dirty="0"/>
          </a:p>
        </p:txBody>
      </p:sp>
      <p:sp>
        <p:nvSpPr>
          <p:cNvPr id="26" name="Text 20"/>
          <p:cNvSpPr txBox="1"/>
          <p:nvPr/>
        </p:nvSpPr>
        <p:spPr>
          <a:xfrm>
            <a:off x="4846320" y="4133088"/>
            <a:ext cx="3657600" cy="256032"/>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from before anything listened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Three problems, in one minute</a:t>
            </a:r>
            <a:endParaRPr lang="en-US" sz="3200" dirty="0"/>
          </a:p>
        </p:txBody>
      </p:sp>
      <p:sp>
        <p:nvSpPr>
          <p:cNvPr id="3" name="Lost imports card"/>
          <p:cNvSpPr/>
          <p:nvPr/>
        </p:nvSpPr>
        <p:spPr>
          <a:xfrm>
            <a:off x="457200" y="1188720"/>
            <a:ext cx="2651760" cy="3291840"/>
          </a:xfrm>
          <a:prstGeom prst="roundRect">
            <a:avLst>
              <a:gd name="adj" fmla="val 2759"/>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4" name="Lost imports circle"/>
          <p:cNvSpPr/>
          <p:nvPr/>
        </p:nvSpPr>
        <p:spPr>
          <a:xfrm>
            <a:off x="640080" y="1371600"/>
            <a:ext cx="548640" cy="548640"/>
          </a:xfrm>
          <a:prstGeom prst="ellipse">
            <a:avLst/>
          </a:prstGeom>
          <a:solidFill>
            <a:schemeClr val="accent1"/>
          </a:solidFill>
          <a:ln w="12700">
            <a:solidFill>
              <a:schemeClr val="accent1"/>
            </a:solidFill>
            <a:prstDash val="solid"/>
          </a:ln>
        </p:spPr>
      </p:sp>
      <p:pic>
        <p:nvPicPr>
          <p:cNvPr id="5" name="Lost imports icon" descr="Lost imports">    </p:cNvPr>
          <p:cNvPicPr>
            <a:picLocks noChangeAspect="1"/>
          </p:cNvPicPr>
          <p:nvPr/>
        </p:nvPicPr>
        <p:blipFill>
          <a:blip r:embed="rId1"/>
          <a:stretch>
            <a:fillRect/>
          </a:stretch>
        </p:blipFill>
        <p:spPr>
          <a:xfrm>
            <a:off x="771754" y="1503274"/>
            <a:ext cx="285293" cy="285293"/>
          </a:xfrm>
          <a:prstGeom prst="rect">
            <a:avLst/>
          </a:prstGeom>
        </p:spPr>
      </p:pic>
      <p:sp>
        <p:nvSpPr>
          <p:cNvPr id="6" name="Text 3"/>
          <p:cNvSpPr txBox="1"/>
          <p:nvPr/>
        </p:nvSpPr>
        <p:spPr>
          <a:xfrm>
            <a:off x="1325880" y="1417320"/>
            <a:ext cx="1645920" cy="4572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Lost imports</a:t>
            </a:r>
            <a:endParaRPr lang="en-US" sz="1800" dirty="0"/>
          </a:p>
        </p:txBody>
      </p:sp>
      <p:sp>
        <p:nvSpPr>
          <p:cNvPr id="7" name="Text 4"/>
          <p:cNvSpPr txBox="1"/>
          <p:nvPr/>
        </p:nvSpPr>
        <p:spPr>
          <a:xfrm>
            <a:off x="640080" y="2103120"/>
            <a:ext cx="2286000" cy="1508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bad line crashes the importer and loses the whole batch. The restarted importer tries it again: 27 crashes since boot, under the limit.</a:t>
            </a:r>
            <a:endParaRPr lang="en-US" sz="1400" dirty="0"/>
          </a:p>
        </p:txBody>
      </p:sp>
      <p:sp>
        <p:nvSpPr>
          <p:cNvPr id="8" name="Text 5"/>
          <p:cNvSpPr txBox="1"/>
          <p:nvPr/>
        </p:nvSpPr>
        <p:spPr>
          <a:xfrm>
            <a:off x="640080" y="3657600"/>
            <a:ext cx="2286000" cy="685800"/>
          </a:xfrm>
          <a:prstGeom prst="rect">
            <a:avLst/>
          </a:prstGeom>
          <a:noFill/>
          <a:ln/>
        </p:spPr>
        <p:txBody>
          <a:bodyPr wrap="square" lIns="0" tIns="0" rIns="0" bIns="0" rtlCol="0" anchor="t"/>
          <a:lstStyle/>
          <a:p>
            <a:pPr indent="0" marL="0">
              <a:buNone/>
            </a:pPr>
            <a:r>
              <a:rPr lang="en-US" sz="1300" b="1" dirty="0">
                <a:solidFill>
                  <a:schemeClr val="accent4"/>
                </a:solidFill>
                <a:latin typeface="Calibri" pitchFamily="34" charset="0"/>
                <a:ea typeface="Calibri" pitchFamily="34" charset="-122"/>
                <a:cs typeface="Calibri" pitchFamily="34" charset="-120"/>
              </a:rPr>
              <a:t>Fix: Parse per line; keep the good orders, log the bad</a:t>
            </a:r>
            <a:endParaRPr lang="en-US" sz="1300" dirty="0"/>
          </a:p>
        </p:txBody>
      </p:sp>
      <p:sp>
        <p:nvSpPr>
          <p:cNvPr id="9" name="Failed payments card"/>
          <p:cNvSpPr/>
          <p:nvPr/>
        </p:nvSpPr>
        <p:spPr>
          <a:xfrm>
            <a:off x="3246120" y="1188720"/>
            <a:ext cx="2651760" cy="3291840"/>
          </a:xfrm>
          <a:prstGeom prst="roundRect">
            <a:avLst>
              <a:gd name="adj" fmla="val 2759"/>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0" name="Failed payments circle"/>
          <p:cNvSpPr/>
          <p:nvPr/>
        </p:nvSpPr>
        <p:spPr>
          <a:xfrm>
            <a:off x="3429000" y="1371600"/>
            <a:ext cx="548640" cy="548640"/>
          </a:xfrm>
          <a:prstGeom prst="ellipse">
            <a:avLst/>
          </a:prstGeom>
          <a:solidFill>
            <a:schemeClr val="accent1"/>
          </a:solidFill>
          <a:ln w="12700">
            <a:solidFill>
              <a:schemeClr val="accent1"/>
            </a:solidFill>
            <a:prstDash val="solid"/>
          </a:ln>
        </p:spPr>
      </p:sp>
      <p:pic>
        <p:nvPicPr>
          <p:cNvPr id="11" name="Failed payments icon" descr="Failed payments">    </p:cNvPr>
          <p:cNvPicPr>
            <a:picLocks noChangeAspect="1"/>
          </p:cNvPicPr>
          <p:nvPr/>
        </p:nvPicPr>
        <p:blipFill>
          <a:blip r:embed="rId2"/>
          <a:stretch>
            <a:fillRect/>
          </a:stretch>
        </p:blipFill>
        <p:spPr>
          <a:xfrm>
            <a:off x="3560674" y="1503274"/>
            <a:ext cx="285293" cy="285293"/>
          </a:xfrm>
          <a:prstGeom prst="rect">
            <a:avLst/>
          </a:prstGeom>
        </p:spPr>
      </p:pic>
      <p:sp>
        <p:nvSpPr>
          <p:cNvPr id="12" name="Text 8"/>
          <p:cNvSpPr txBox="1"/>
          <p:nvPr/>
        </p:nvSpPr>
        <p:spPr>
          <a:xfrm>
            <a:off x="4114800" y="1417320"/>
            <a:ext cx="1645920" cy="4572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Failed payments</a:t>
            </a:r>
            <a:endParaRPr lang="en-US" sz="1800" dirty="0"/>
          </a:p>
        </p:txBody>
      </p:sp>
      <p:sp>
        <p:nvSpPr>
          <p:cNvPr id="13" name="Text 9"/>
          <p:cNvSpPr txBox="1"/>
          <p:nvPr/>
        </p:nvSpPr>
        <p:spPr>
          <a:xfrm>
            <a:off x="3429000" y="2103120"/>
            <a:ext cx="2286000" cy="1508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About one charge in ten times out, and the next order goes on as if it hadn't: a failed charge is never retried.</a:t>
            </a:r>
            <a:endParaRPr lang="en-US" sz="1400" dirty="0"/>
          </a:p>
        </p:txBody>
      </p:sp>
      <p:sp>
        <p:nvSpPr>
          <p:cNvPr id="14" name="Text 10"/>
          <p:cNvSpPr txBox="1"/>
          <p:nvPr/>
        </p:nvSpPr>
        <p:spPr>
          <a:xfrm>
            <a:off x="3429000" y="3657600"/>
            <a:ext cx="2286000" cy="685800"/>
          </a:xfrm>
          <a:prstGeom prst="rect">
            <a:avLst/>
          </a:prstGeom>
          <a:noFill/>
          <a:ln/>
        </p:spPr>
        <p:txBody>
          <a:bodyPr wrap="square" lIns="0" tIns="0" rIns="0" bIns="0" rtlCol="0" anchor="t"/>
          <a:lstStyle/>
          <a:p>
            <a:pPr indent="0" marL="0">
              <a:buNone/>
            </a:pPr>
            <a:r>
              <a:rPr lang="en-US" sz="1300" b="1" dirty="0">
                <a:solidFill>
                  <a:schemeClr val="accent4"/>
                </a:solidFill>
                <a:latin typeface="Calibri" pitchFamily="34" charset="0"/>
                <a:ea typeface="Calibri" pitchFamily="34" charset="-122"/>
                <a:cs typeface="Calibri" pitchFamily="34" charset="-120"/>
              </a:rPr>
              <a:t>Fix: Retry or queue a failed charge</a:t>
            </a:r>
            <a:endParaRPr lang="en-US" sz="1300" dirty="0"/>
          </a:p>
        </p:txBody>
      </p:sp>
      <p:sp>
        <p:nvSpPr>
          <p:cNvPr id="15" name="List prices card"/>
          <p:cNvSpPr/>
          <p:nvPr/>
        </p:nvSpPr>
        <p:spPr>
          <a:xfrm>
            <a:off x="6035040" y="1188720"/>
            <a:ext cx="2651760" cy="3291840"/>
          </a:xfrm>
          <a:prstGeom prst="roundRect">
            <a:avLst>
              <a:gd name="adj" fmla="val 2759"/>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6" name="List prices circle"/>
          <p:cNvSpPr/>
          <p:nvPr/>
        </p:nvSpPr>
        <p:spPr>
          <a:xfrm>
            <a:off x="6217920" y="1371600"/>
            <a:ext cx="548640" cy="548640"/>
          </a:xfrm>
          <a:prstGeom prst="ellipse">
            <a:avLst/>
          </a:prstGeom>
          <a:solidFill>
            <a:schemeClr val="accent1"/>
          </a:solidFill>
          <a:ln w="12700">
            <a:solidFill>
              <a:schemeClr val="accent1"/>
            </a:solidFill>
            <a:prstDash val="solid"/>
          </a:ln>
        </p:spPr>
      </p:sp>
      <p:pic>
        <p:nvPicPr>
          <p:cNvPr id="17" name="List prices icon" descr="List prices">    </p:cNvPr>
          <p:cNvPicPr>
            <a:picLocks noChangeAspect="1"/>
          </p:cNvPicPr>
          <p:nvPr/>
        </p:nvPicPr>
        <p:blipFill>
          <a:blip r:embed="rId3"/>
          <a:stretch>
            <a:fillRect/>
          </a:stretch>
        </p:blipFill>
        <p:spPr>
          <a:xfrm>
            <a:off x="6349594" y="1503274"/>
            <a:ext cx="285293" cy="285293"/>
          </a:xfrm>
          <a:prstGeom prst="rect">
            <a:avLst/>
          </a:prstGeom>
        </p:spPr>
      </p:pic>
      <p:sp>
        <p:nvSpPr>
          <p:cNvPr id="18" name="Text 13"/>
          <p:cNvSpPr txBox="1"/>
          <p:nvPr/>
        </p:nvSpPr>
        <p:spPr>
          <a:xfrm>
            <a:off x="6903720" y="1417320"/>
            <a:ext cx="1645920" cy="4572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List prices</a:t>
            </a:r>
            <a:endParaRPr lang="en-US" sz="1800" dirty="0"/>
          </a:p>
        </p:txBody>
      </p:sp>
      <p:sp>
        <p:nvSpPr>
          <p:cNvPr id="19" name="Text 14"/>
          <p:cNvSpPr txBox="1"/>
          <p:nvPr/>
        </p:nvSpPr>
        <p:spPr>
          <a:xfrm>
            <a:off x="6217920" y="2103120"/>
            <a:ext cx="2286000" cy="1508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pricing rules were never read: a relative priv/ path. The node started anyway, without them.</a:t>
            </a:r>
            <a:endParaRPr lang="en-US" sz="1400" dirty="0"/>
          </a:p>
        </p:txBody>
      </p:sp>
      <p:sp>
        <p:nvSpPr>
          <p:cNvPr id="20" name="Text 15"/>
          <p:cNvSpPr txBox="1"/>
          <p:nvPr/>
        </p:nvSpPr>
        <p:spPr>
          <a:xfrm>
            <a:off x="6217920" y="3657600"/>
            <a:ext cx="2286000" cy="685800"/>
          </a:xfrm>
          <a:prstGeom prst="rect">
            <a:avLst/>
          </a:prstGeom>
          <a:noFill/>
          <a:ln/>
        </p:spPr>
        <p:txBody>
          <a:bodyPr wrap="square" lIns="0" tIns="0" rIns="0" bIns="0" rtlCol="0" anchor="t"/>
          <a:lstStyle/>
          <a:p>
            <a:pPr indent="0" marL="0">
              <a:buNone/>
            </a:pPr>
            <a:r>
              <a:rPr lang="en-US" sz="1300" b="1" dirty="0">
                <a:solidFill>
                  <a:schemeClr val="accent4"/>
                </a:solidFill>
                <a:latin typeface="Calibri" pitchFamily="34" charset="0"/>
                <a:ea typeface="Calibri" pitchFamily="34" charset="-122"/>
                <a:cs typeface="Calibri" pitchFamily="34" charset="-120"/>
              </a:rPr>
              <a:t>Fix: Read from code:priv_dir(orders)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046720" cy="365760"/>
          </a:xfrm>
          <a:prstGeom prst="rect">
            <a:avLst/>
          </a:prstGeom>
          <a:noFill/>
          <a:ln/>
        </p:spPr>
        <p:txBody>
          <a:bodyPr wrap="square" lIns="0" tIns="0" rIns="0" bIns="0" rtlCol="0" anchor="ctr"/>
          <a:lstStyle/>
          <a:p>
            <a:pPr algn="l" indent="0" marL="0">
              <a:buNone/>
            </a:pPr>
            <a:r>
              <a:rPr lang="en-US" sz="1600" b="1" dirty="0">
                <a:solidFill>
                  <a:schemeClr val="accent6"/>
                </a:solidFill>
                <a:latin typeface="Calibri" pitchFamily="34" charset="0"/>
                <a:ea typeface="Calibri" pitchFamily="34" charset="-122"/>
                <a:cs typeface="Calibri" pitchFamily="34" charset="-120"/>
              </a:rPr>
              <a:t>SCENARIO 3</a:t>
            </a:r>
            <a:endParaRPr lang="en-US" sz="1600" dirty="0"/>
          </a:p>
        </p:txBody>
      </p:sp>
      <p:sp>
        <p:nvSpPr>
          <p:cNvPr id="3" name="Text 0"/>
          <p:cNvSpPr/>
          <p:nvPr>
            <p:ph idx="101" type="title" hasCustomPrompt="1"/>
          </p:nvPr>
        </p:nvSpPr>
        <p:spPr>
          <a:xfrm>
            <a:off x="548640" y="1051560"/>
            <a:ext cx="804672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A node that died</a:t>
            </a:r>
            <a:endParaRPr lang="en-US" sz="3600" dirty="0"/>
          </a:p>
        </p:txBody>
      </p:sp>
      <p:sp>
        <p:nvSpPr>
          <p:cNvPr id="4" name="Prompt card"/>
          <p:cNvSpPr/>
          <p:nvPr/>
        </p:nvSpPr>
        <p:spPr>
          <a:xfrm>
            <a:off x="548640" y="2240280"/>
            <a:ext cx="6675120" cy="1920240"/>
          </a:xfrm>
          <a:prstGeom prst="roundRect">
            <a:avLst>
              <a:gd name="adj" fmla="val 3810"/>
            </a:avLst>
          </a:prstGeom>
          <a:solidFill>
            <a:schemeClr val="tx1"/>
          </a:solidFill>
          <a:ln w="12700">
            <a:solidFill>
              <a:schemeClr val="tx1"/>
            </a:solidFill>
            <a:prstDash val="solid"/>
          </a:ln>
        </p:spPr>
      </p:sp>
      <p:sp>
        <p:nvSpPr>
          <p:cNvPr id="5" name="Text 3"/>
          <p:cNvSpPr txBox="1"/>
          <p:nvPr/>
        </p:nvSpPr>
        <p:spPr>
          <a:xfrm>
            <a:off x="822960" y="2423160"/>
            <a:ext cx="6126480" cy="320040"/>
          </a:xfrm>
          <a:prstGeom prst="rect">
            <a:avLst/>
          </a:prstGeom>
          <a:noFill/>
          <a:ln/>
        </p:spPr>
        <p:txBody>
          <a:bodyPr wrap="square" lIns="0" tIns="0" rIns="0" bIns="0" rtlCol="0" anchor="t"/>
          <a:lstStyle/>
          <a:p>
            <a:pPr indent="0" marL="0">
              <a:buNone/>
            </a:pPr>
            <a:r>
              <a:rPr lang="en-US" sz="1300" b="1" dirty="0">
                <a:solidFill>
                  <a:schemeClr val="accent6"/>
                </a:solidFill>
                <a:latin typeface="Calibri" pitchFamily="34" charset="0"/>
                <a:ea typeface="Calibri" pitchFamily="34" charset="-122"/>
                <a:cs typeface="Calibri" pitchFamily="34" charset="-120"/>
              </a:rPr>
              <a:t>The prompt</a:t>
            </a:r>
            <a:endParaRPr lang="en-US" sz="1300" dirty="0"/>
          </a:p>
        </p:txBody>
      </p:sp>
      <p:sp>
        <p:nvSpPr>
          <p:cNvPr id="6" name="Text 4"/>
          <p:cNvSpPr txBox="1"/>
          <p:nvPr/>
        </p:nvSpPr>
        <p:spPr>
          <a:xfrm>
            <a:off x="822960" y="2788920"/>
            <a:ext cx="6126480" cy="1234440"/>
          </a:xfrm>
          <a:prstGeom prst="rect">
            <a:avLst/>
          </a:prstGeom>
          <a:noFill/>
          <a:ln/>
        </p:spPr>
        <p:txBody>
          <a:bodyPr wrap="square" lIns="0" tIns="0" rIns="0" bIns="0" rtlCol="0" anchor="t"/>
          <a:lstStyle/>
          <a:p>
            <a:pPr indent="0" marL="0">
              <a:buNone/>
            </a:pPr>
            <a:r>
              <a:rPr lang="en-US" sz="1800" i="1" dirty="0">
                <a:solidFill>
                  <a:schemeClr val="bg1"/>
                </a:solidFill>
                <a:latin typeface="Calibri" pitchFamily="34" charset="0"/>
                <a:ea typeface="Calibri" pitchFamily="34" charset="-122"/>
                <a:cs typeface="Calibri" pitchFamily="34" charset="-120"/>
              </a:rPr>
              <a:t>crash_erl died a minute after it started. It left a crash dump. Find out why it died.</a:t>
            </a:r>
            <a:endParaRPr lang="en-US" sz="1800" dirty="0"/>
          </a:p>
        </p:txBody>
      </p:sp>
      <p:sp>
        <p:nvSpPr>
          <p:cNvPr id="7" name="A node that died circle"/>
          <p:cNvSpPr/>
          <p:nvPr/>
        </p:nvSpPr>
        <p:spPr>
          <a:xfrm>
            <a:off x="7452360" y="2606040"/>
            <a:ext cx="1188720" cy="1188720"/>
          </a:xfrm>
          <a:prstGeom prst="ellipse">
            <a:avLst/>
          </a:prstGeom>
          <a:solidFill>
            <a:schemeClr val="accent1"/>
          </a:solidFill>
          <a:ln w="12700">
            <a:solidFill>
              <a:schemeClr val="accent1"/>
            </a:solidFill>
            <a:prstDash val="solid"/>
          </a:ln>
        </p:spPr>
      </p:sp>
      <p:pic>
        <p:nvPicPr>
          <p:cNvPr id="8" name="A node that died icon" descr="A node that died">    </p:cNvPr>
          <p:cNvPicPr>
            <a:picLocks noChangeAspect="1"/>
          </p:cNvPicPr>
          <p:nvPr/>
        </p:nvPicPr>
        <p:blipFill>
          <a:blip r:embed="rId1"/>
          <a:stretch>
            <a:fillRect/>
          </a:stretch>
        </p:blipFill>
        <p:spPr>
          <a:xfrm>
            <a:off x="7737653" y="2891333"/>
            <a:ext cx="618134" cy="61813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dump, read in 23 seconds</a:t>
            </a:r>
            <a:endParaRPr lang="en-US" sz="3200" dirty="0"/>
          </a:p>
        </p:txBody>
      </p:sp>
      <p:sp>
        <p:nvSpPr>
          <p:cNvPr id="3" name="Text 1"/>
          <p:cNvSpPr txBox="1"/>
          <p:nvPr/>
        </p:nvSpPr>
        <p:spPr>
          <a:xfrm>
            <a:off x="457200" y="1097280"/>
            <a:ext cx="822960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Slogan: eheap_alloc: Cannot allocate 128 bytes of memory. It ran out of memory, and a process heap was growing.</a:t>
            </a:r>
            <a:endParaRPr lang="en-US" sz="1500" dirty="0"/>
          </a:p>
        </p:txBody>
      </p:sp>
      <p:sp>
        <p:nvSpPr>
          <p:cNvPr id="4" name="74% card"/>
          <p:cNvSpPr/>
          <p:nvPr/>
        </p:nvSpPr>
        <p:spPr>
          <a:xfrm>
            <a:off x="457200" y="1874520"/>
            <a:ext cx="265176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5" name="Text 3"/>
          <p:cNvSpPr txBox="1"/>
          <p:nvPr/>
        </p:nvSpPr>
        <p:spPr>
          <a:xfrm>
            <a:off x="594360" y="2057400"/>
            <a:ext cx="2377440" cy="82296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74%</a:t>
            </a:r>
            <a:endParaRPr lang="en-US" sz="3200" dirty="0"/>
          </a:p>
        </p:txBody>
      </p:sp>
      <p:sp>
        <p:nvSpPr>
          <p:cNvPr id="6" name="Text 4"/>
          <p:cNvSpPr txBox="1"/>
          <p:nvPr/>
        </p:nvSpPr>
        <p:spPr>
          <a:xfrm>
            <a:off x="685800" y="2926080"/>
            <a:ext cx="2194560" cy="9601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of the node's memory in one process, events_writer</a:t>
            </a:r>
            <a:endParaRPr lang="en-US" sz="1400" dirty="0"/>
          </a:p>
        </p:txBody>
      </p:sp>
      <p:sp>
        <p:nvSpPr>
          <p:cNvPr id="7" name="1,055,805 card"/>
          <p:cNvSpPr/>
          <p:nvPr/>
        </p:nvSpPr>
        <p:spPr>
          <a:xfrm>
            <a:off x="3246120" y="1874520"/>
            <a:ext cx="265176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8" name="Text 6"/>
          <p:cNvSpPr txBox="1"/>
          <p:nvPr/>
        </p:nvSpPr>
        <p:spPr>
          <a:xfrm>
            <a:off x="3383280" y="2057400"/>
            <a:ext cx="2377440" cy="822960"/>
          </a:xfrm>
          <a:prstGeom prst="rect">
            <a:avLst/>
          </a:prstGeom>
          <a:noFill/>
          <a:ln/>
        </p:spPr>
        <p:txBody>
          <a:bodyPr wrap="square" lIns="0" tIns="0" rIns="0" bIns="0" rtlCol="0" anchor="ctr"/>
          <a:lstStyle/>
          <a:p>
            <a:pPr algn="ctr" indent="0" marL="0">
              <a:buNone/>
            </a:pPr>
            <a:r>
              <a:rPr lang="en-US" sz="3200" b="1" dirty="0">
                <a:solidFill>
                  <a:schemeClr val="accent2"/>
                </a:solidFill>
                <a:latin typeface="Cambria" pitchFamily="34" charset="0"/>
                <a:ea typeface="Cambria" pitchFamily="34" charset="-122"/>
                <a:cs typeface="Cambria" pitchFamily="34" charset="-120"/>
              </a:rPr>
              <a:t>1,055,805</a:t>
            </a:r>
            <a:endParaRPr lang="en-US" sz="3200" dirty="0"/>
          </a:p>
        </p:txBody>
      </p:sp>
      <p:sp>
        <p:nvSpPr>
          <p:cNvPr id="9" name="Text 7"/>
          <p:cNvSpPr txBox="1"/>
          <p:nvPr/>
        </p:nvSpPr>
        <p:spPr>
          <a:xfrm>
            <a:off x="3474720" y="2926080"/>
            <a:ext cx="2194560" cy="9601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messages waiting in its mailbox</a:t>
            </a:r>
            <a:endParaRPr lang="en-US" sz="1400" dirty="0"/>
          </a:p>
        </p:txBody>
      </p:sp>
      <p:sp>
        <p:nvSpPr>
          <p:cNvPr id="10" name="~1% card"/>
          <p:cNvSpPr/>
          <p:nvPr/>
        </p:nvSpPr>
        <p:spPr>
          <a:xfrm>
            <a:off x="6035040" y="1874520"/>
            <a:ext cx="265176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1" name="Text 9"/>
          <p:cNvSpPr txBox="1"/>
          <p:nvPr/>
        </p:nvSpPr>
        <p:spPr>
          <a:xfrm>
            <a:off x="6172200" y="2057400"/>
            <a:ext cx="2377440" cy="822960"/>
          </a:xfrm>
          <a:prstGeom prst="rect">
            <a:avLst/>
          </a:prstGeom>
          <a:noFill/>
          <a:ln/>
        </p:spPr>
        <p:txBody>
          <a:bodyPr wrap="square" lIns="0" tIns="0" rIns="0" bIns="0" rtlCol="0" anchor="ctr"/>
          <a:lstStyle/>
          <a:p>
            <a:pPr algn="ctr" indent="0" marL="0">
              <a:buNone/>
            </a:pPr>
            <a:r>
              <a:rPr lang="en-US" sz="3200" b="1" dirty="0">
                <a:solidFill>
                  <a:schemeClr val="accent3"/>
                </a:solidFill>
                <a:latin typeface="Cambria" pitchFamily="34" charset="0"/>
                <a:ea typeface="Cambria" pitchFamily="34" charset="-122"/>
                <a:cs typeface="Cambria" pitchFamily="34" charset="-120"/>
              </a:rPr>
              <a:t>~1%</a:t>
            </a:r>
            <a:endParaRPr lang="en-US" sz="3200" dirty="0"/>
          </a:p>
        </p:txBody>
      </p:sp>
      <p:sp>
        <p:nvSpPr>
          <p:cNvPr id="12" name="Text 10"/>
          <p:cNvSpPr txBox="1"/>
          <p:nvPr/>
        </p:nvSpPr>
        <p:spPr>
          <a:xfrm>
            <a:off x="6263640" y="2926080"/>
            <a:ext cx="2194560" cy="96012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of what it was sent, stored: the oldest waiting event is #11,951</a:t>
            </a:r>
            <a:endParaRPr lang="en-US" sz="1400" dirty="0"/>
          </a:p>
        </p:txBody>
      </p:sp>
      <p:sp>
        <p:nvSpPr>
          <p:cNvPr id="13" name="Text 11"/>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chemeClr val="accent5"/>
                </a:solidFill>
                <a:latin typeface="Calibri" pitchFamily="34" charset="0"/>
                <a:ea typeface="Calibri" pitchFamily="34" charset="-122"/>
                <a:cs typeface="Calibri" pitchFamily="34" charset="-120"/>
              </a:rPr>
              <a:t>Running when it died: events_source, sending, with 30 times the writer's reductions.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 producer with nothing to slow it down</a:t>
            </a:r>
            <a:endParaRPr lang="en-US" sz="3200" dirty="0"/>
          </a:p>
        </p:txBody>
      </p:sp>
      <p:sp>
        <p:nvSpPr>
          <p:cNvPr id="3" name="events_source circle"/>
          <p:cNvSpPr/>
          <p:nvPr/>
        </p:nvSpPr>
        <p:spPr>
          <a:xfrm>
            <a:off x="822960" y="1234440"/>
            <a:ext cx="822960" cy="822960"/>
          </a:xfrm>
          <a:prstGeom prst="ellipse">
            <a:avLst/>
          </a:prstGeom>
          <a:solidFill>
            <a:schemeClr val="accent1"/>
          </a:solidFill>
          <a:ln w="12700">
            <a:solidFill>
              <a:schemeClr val="accent1"/>
            </a:solidFill>
            <a:prstDash val="solid"/>
          </a:ln>
        </p:spPr>
      </p:sp>
      <p:pic>
        <p:nvPicPr>
          <p:cNvPr id="4" name="events_source icon" descr="events_source">    </p:cNvPr>
          <p:cNvPicPr>
            <a:picLocks noChangeAspect="1"/>
          </p:cNvPicPr>
          <p:nvPr/>
        </p:nvPicPr>
        <p:blipFill>
          <a:blip r:embed="rId1"/>
          <a:stretch>
            <a:fillRect/>
          </a:stretch>
        </p:blipFill>
        <p:spPr>
          <a:xfrm>
            <a:off x="1020470" y="1431950"/>
            <a:ext cx="427939" cy="427939"/>
          </a:xfrm>
          <a:prstGeom prst="rect">
            <a:avLst/>
          </a:prstGeom>
        </p:spPr>
      </p:pic>
      <p:sp>
        <p:nvSpPr>
          <p:cNvPr id="5" name="Text 2"/>
          <p:cNvSpPr txBox="1"/>
          <p:nvPr/>
        </p:nvSpPr>
        <p:spPr>
          <a:xfrm>
            <a:off x="457200" y="2148840"/>
            <a:ext cx="1554480" cy="320040"/>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events_source</a:t>
            </a:r>
            <a:endParaRPr lang="en-US" sz="1500" dirty="0"/>
          </a:p>
        </p:txBody>
      </p:sp>
      <p:sp>
        <p:nvSpPr>
          <p:cNvPr id="6" name="Text 3"/>
          <p:cNvSpPr txBox="1"/>
          <p:nvPr/>
        </p:nvSpPr>
        <p:spPr>
          <a:xfrm>
            <a:off x="457200" y="2468880"/>
            <a:ext cx="1554480" cy="3200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sends without waiting</a:t>
            </a:r>
            <a:endParaRPr lang="en-US" sz="1200" dirty="0"/>
          </a:p>
        </p:txBody>
      </p:sp>
      <p:sp>
        <p:nvSpPr>
          <p:cNvPr id="7" name="Arrow to mailbox"/>
          <p:cNvSpPr/>
          <p:nvPr/>
        </p:nvSpPr>
        <p:spPr>
          <a:xfrm>
            <a:off x="2240280" y="1463040"/>
            <a:ext cx="640080" cy="365760"/>
          </a:xfrm>
          <a:prstGeom prst="rightArrow">
            <a:avLst/>
          </a:prstGeom>
          <a:solidFill>
            <a:schemeClr val="accent6"/>
          </a:solidFill>
          <a:ln w="12700">
            <a:solidFill>
              <a:schemeClr val="accent6"/>
            </a:solidFill>
            <a:prstDash val="solid"/>
          </a:ln>
        </p:spPr>
      </p:sp>
      <p:sp>
        <p:nvSpPr>
          <p:cNvPr id="8" name="Mailbox card"/>
          <p:cNvSpPr/>
          <p:nvPr/>
        </p:nvSpPr>
        <p:spPr>
          <a:xfrm>
            <a:off x="3108960" y="1143000"/>
            <a:ext cx="2743200" cy="1051560"/>
          </a:xfrm>
          <a:prstGeom prst="roundRect">
            <a:avLst>
              <a:gd name="adj" fmla="val 6957"/>
            </a:avLst>
          </a:prstGeom>
          <a:solidFill>
            <a:schemeClr val="tx1"/>
          </a:solidFill>
          <a:ln w="12700">
            <a:solidFill>
              <a:schemeClr val="tx1"/>
            </a:solidFill>
            <a:prstDash val="solid"/>
          </a:ln>
          <a:effectLst>
            <a:outerShdw sx="100000" sy="100000" kx="0" ky="0" algn="bl" rotWithShape="0" blurRad="76200" dist="25400" dir="5400000">
              <a:srgbClr val="3A1D4A">
                <a:alpha val="12000"/>
              </a:srgbClr>
            </a:outerShdw>
          </a:effectLst>
        </p:spPr>
      </p:sp>
      <p:sp>
        <p:nvSpPr>
          <p:cNvPr id="9" name="Text 6"/>
          <p:cNvSpPr txBox="1"/>
          <p:nvPr/>
        </p:nvSpPr>
        <p:spPr>
          <a:xfrm>
            <a:off x="3291840" y="1234440"/>
            <a:ext cx="2468880" cy="86868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{event,clicks,11951,…}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{event,clicks,11952,…}</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 million more</a:t>
            </a:r>
            <a:endParaRPr lang="en-US" sz="1100" dirty="0"/>
          </a:p>
        </p:txBody>
      </p:sp>
      <p:sp>
        <p:nvSpPr>
          <p:cNvPr id="10" name="Text 7"/>
          <p:cNvSpPr txBox="1"/>
          <p:nvPr/>
        </p:nvSpPr>
        <p:spPr>
          <a:xfrm>
            <a:off x="3108960" y="2286000"/>
            <a:ext cx="2743200" cy="3200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the writer's mailbox</a:t>
            </a:r>
            <a:endParaRPr lang="en-US" sz="1200" dirty="0"/>
          </a:p>
        </p:txBody>
      </p:sp>
      <p:sp>
        <p:nvSpPr>
          <p:cNvPr id="11" name="Arrow to writer"/>
          <p:cNvSpPr/>
          <p:nvPr/>
        </p:nvSpPr>
        <p:spPr>
          <a:xfrm>
            <a:off x="6080760" y="1463040"/>
            <a:ext cx="640080" cy="365760"/>
          </a:xfrm>
          <a:prstGeom prst="rightArrow">
            <a:avLst/>
          </a:prstGeom>
          <a:solidFill>
            <a:schemeClr val="accent6"/>
          </a:solidFill>
          <a:ln w="12700">
            <a:solidFill>
              <a:schemeClr val="accent6"/>
            </a:solidFill>
            <a:prstDash val="solid"/>
          </a:ln>
        </p:spPr>
      </p:sp>
      <p:sp>
        <p:nvSpPr>
          <p:cNvPr id="12" name="events_writer circle"/>
          <p:cNvSpPr/>
          <p:nvPr/>
        </p:nvSpPr>
        <p:spPr>
          <a:xfrm>
            <a:off x="7269480" y="1234440"/>
            <a:ext cx="822960" cy="822960"/>
          </a:xfrm>
          <a:prstGeom prst="ellipse">
            <a:avLst/>
          </a:prstGeom>
          <a:solidFill>
            <a:schemeClr val="accent2"/>
          </a:solidFill>
          <a:ln w="12700">
            <a:solidFill>
              <a:schemeClr val="accent2"/>
            </a:solidFill>
            <a:prstDash val="solid"/>
          </a:ln>
        </p:spPr>
      </p:sp>
      <p:pic>
        <p:nvPicPr>
          <p:cNvPr id="13" name="events_writer icon" descr="events_writer">    </p:cNvPr>
          <p:cNvPicPr>
            <a:picLocks noChangeAspect="1"/>
          </p:cNvPicPr>
          <p:nvPr/>
        </p:nvPicPr>
        <p:blipFill>
          <a:blip r:embed="rId2"/>
          <a:stretch>
            <a:fillRect/>
          </a:stretch>
        </p:blipFill>
        <p:spPr>
          <a:xfrm>
            <a:off x="7466990" y="1431950"/>
            <a:ext cx="427939" cy="427939"/>
          </a:xfrm>
          <a:prstGeom prst="rect">
            <a:avLst/>
          </a:prstGeom>
        </p:spPr>
      </p:pic>
      <p:sp>
        <p:nvSpPr>
          <p:cNvPr id="14" name="Text 10"/>
          <p:cNvSpPr txBox="1"/>
          <p:nvPr/>
        </p:nvSpPr>
        <p:spPr>
          <a:xfrm>
            <a:off x="6903720" y="2148840"/>
            <a:ext cx="1554480" cy="320040"/>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events_writer</a:t>
            </a:r>
            <a:endParaRPr lang="en-US" sz="1500" dirty="0"/>
          </a:p>
        </p:txBody>
      </p:sp>
      <p:sp>
        <p:nvSpPr>
          <p:cNvPr id="15" name="Text 11"/>
          <p:cNvSpPr txBox="1"/>
          <p:nvPr/>
        </p:nvSpPr>
        <p:spPr>
          <a:xfrm>
            <a:off x="6903720" y="2468880"/>
            <a:ext cx="1554480" cy="3200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sleeps between events</a:t>
            </a:r>
            <a:endParaRPr lang="en-US" sz="1200" dirty="0"/>
          </a:p>
        </p:txBody>
      </p:sp>
      <p:sp>
        <p:nvSpPr>
          <p:cNvPr id="16" name="Backpressure card"/>
          <p:cNvSpPr/>
          <p:nvPr/>
        </p:nvSpPr>
        <p:spPr>
          <a:xfrm>
            <a:off x="457200" y="3063240"/>
            <a:ext cx="26517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7" name="Text 13"/>
          <p:cNvSpPr txBox="1"/>
          <p:nvPr/>
        </p:nvSpPr>
        <p:spPr>
          <a:xfrm>
            <a:off x="640080" y="3200400"/>
            <a:ext cx="2286000" cy="365760"/>
          </a:xfrm>
          <a:prstGeom prst="rect">
            <a:avLst/>
          </a:prstGeom>
          <a:noFill/>
          <a:ln/>
        </p:spPr>
        <p:txBody>
          <a:bodyPr wrap="square" lIns="0" tIns="0" rIns="0" bIns="0" rtlCol="0" anchor="t"/>
          <a:lstStyle/>
          <a:p>
            <a:pPr indent="0" marL="0">
              <a:buNone/>
            </a:pPr>
            <a:r>
              <a:rPr lang="en-US" sz="1600" b="1" dirty="0">
                <a:solidFill>
                  <a:schemeClr val="accent4"/>
                </a:solidFill>
                <a:latin typeface="Calibri" pitchFamily="34" charset="0"/>
                <a:ea typeface="Calibri" pitchFamily="34" charset="-122"/>
                <a:cs typeface="Calibri" pitchFamily="34" charset="-120"/>
              </a:rPr>
              <a:t>Backpressure</a:t>
            </a:r>
            <a:endParaRPr lang="en-US" sz="1600" dirty="0"/>
          </a:p>
        </p:txBody>
      </p:sp>
      <p:sp>
        <p:nvSpPr>
          <p:cNvPr id="18" name="Text 14"/>
          <p:cNvSpPr txBox="1"/>
          <p:nvPr/>
        </p:nvSpPr>
        <p:spPr>
          <a:xfrm>
            <a:off x="640080" y="3584448"/>
            <a:ext cx="228600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call, or an acknowledgement per batch, instead of a plain send</a:t>
            </a:r>
            <a:endParaRPr lang="en-US" sz="1400" dirty="0"/>
          </a:p>
        </p:txBody>
      </p:sp>
      <p:sp>
        <p:nvSpPr>
          <p:cNvPr id="19" name="A faster writer card"/>
          <p:cNvSpPr/>
          <p:nvPr/>
        </p:nvSpPr>
        <p:spPr>
          <a:xfrm>
            <a:off x="3246120" y="3063240"/>
            <a:ext cx="26517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20" name="Text 16"/>
          <p:cNvSpPr txBox="1"/>
          <p:nvPr/>
        </p:nvSpPr>
        <p:spPr>
          <a:xfrm>
            <a:off x="3429000" y="3200400"/>
            <a:ext cx="2286000" cy="365760"/>
          </a:xfrm>
          <a:prstGeom prst="rect">
            <a:avLst/>
          </a:prstGeom>
          <a:noFill/>
          <a:ln/>
        </p:spPr>
        <p:txBody>
          <a:bodyPr wrap="square" lIns="0" tIns="0" rIns="0" bIns="0" rtlCol="0" anchor="t"/>
          <a:lstStyle/>
          <a:p>
            <a:pPr indent="0" marL="0">
              <a:buNone/>
            </a:pPr>
            <a:r>
              <a:rPr lang="en-US" sz="1600" b="1" dirty="0">
                <a:solidFill>
                  <a:schemeClr val="accent4"/>
                </a:solidFill>
                <a:latin typeface="Calibri" pitchFamily="34" charset="0"/>
                <a:ea typeface="Calibri" pitchFamily="34" charset="-122"/>
                <a:cs typeface="Calibri" pitchFamily="34" charset="-120"/>
              </a:rPr>
              <a:t>A faster writer</a:t>
            </a:r>
            <a:endParaRPr lang="en-US" sz="1600" dirty="0"/>
          </a:p>
        </p:txBody>
      </p:sp>
      <p:sp>
        <p:nvSpPr>
          <p:cNvPr id="21" name="Text 17"/>
          <p:cNvSpPr txBox="1"/>
          <p:nvPr/>
        </p:nvSpPr>
        <p:spPr>
          <a:xfrm>
            <a:off x="3429000" y="3584448"/>
            <a:ext cx="228600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take events in batches, without a sleep per event</a:t>
            </a:r>
            <a:endParaRPr lang="en-US" sz="1400" dirty="0"/>
          </a:p>
        </p:txBody>
      </p:sp>
      <p:sp>
        <p:nvSpPr>
          <p:cNvPr id="22" name="Keep the evidence card"/>
          <p:cNvSpPr/>
          <p:nvPr/>
        </p:nvSpPr>
        <p:spPr>
          <a:xfrm>
            <a:off x="6035040" y="3063240"/>
            <a:ext cx="26517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23" name="Text 19"/>
          <p:cNvSpPr txBox="1"/>
          <p:nvPr/>
        </p:nvSpPr>
        <p:spPr>
          <a:xfrm>
            <a:off x="6217920" y="3200400"/>
            <a:ext cx="2286000" cy="365760"/>
          </a:xfrm>
          <a:prstGeom prst="rect">
            <a:avLst/>
          </a:prstGeom>
          <a:noFill/>
          <a:ln/>
        </p:spPr>
        <p:txBody>
          <a:bodyPr wrap="square" lIns="0" tIns="0" rIns="0" bIns="0" rtlCol="0" anchor="t"/>
          <a:lstStyle/>
          <a:p>
            <a:pPr indent="0" marL="0">
              <a:buNone/>
            </a:pPr>
            <a:r>
              <a:rPr lang="en-US" sz="1600" b="1" dirty="0">
                <a:solidFill>
                  <a:schemeClr val="accent4"/>
                </a:solidFill>
                <a:latin typeface="Calibri" pitchFamily="34" charset="0"/>
                <a:ea typeface="Calibri" pitchFamily="34" charset="-122"/>
                <a:cs typeface="Calibri" pitchFamily="34" charset="-120"/>
              </a:rPr>
              <a:t>Keep the evidence</a:t>
            </a:r>
            <a:endParaRPr lang="en-US" sz="1600" dirty="0"/>
          </a:p>
        </p:txBody>
      </p:sp>
      <p:sp>
        <p:nvSpPr>
          <p:cNvPr id="24" name="Text 20"/>
          <p:cNvSpPr txBox="1"/>
          <p:nvPr/>
        </p:nvSpPr>
        <p:spPr>
          <a:xfrm>
            <a:off x="6217920" y="3584448"/>
            <a:ext cx="228600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point ERL_CRASH_DUMP at a volume that outlives the container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Before pointing it at production</a:t>
            </a:r>
            <a:endParaRPr lang="en-US" sz="3200" dirty="0"/>
          </a:p>
        </p:txBody>
      </p:sp>
      <p:sp>
        <p:nvSpPr>
          <p:cNvPr id="3" name="The cookie is full access card"/>
          <p:cNvSpPr/>
          <p:nvPr/>
        </p:nvSpPr>
        <p:spPr>
          <a:xfrm>
            <a:off x="457200" y="118872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4" name="The cookie is full access circle"/>
          <p:cNvSpPr/>
          <p:nvPr/>
        </p:nvSpPr>
        <p:spPr>
          <a:xfrm>
            <a:off x="640080" y="1417320"/>
            <a:ext cx="548640" cy="548640"/>
          </a:xfrm>
          <a:prstGeom prst="ellipse">
            <a:avLst/>
          </a:prstGeom>
          <a:solidFill>
            <a:schemeClr val="accent1"/>
          </a:solidFill>
          <a:ln w="12700">
            <a:solidFill>
              <a:schemeClr val="accent1"/>
            </a:solidFill>
            <a:prstDash val="solid"/>
          </a:ln>
        </p:spPr>
      </p:sp>
      <p:pic>
        <p:nvPicPr>
          <p:cNvPr id="5" name="The cookie is full access icon" descr="The cookie is full access">    </p:cNvPr>
          <p:cNvPicPr>
            <a:picLocks noChangeAspect="1"/>
          </p:cNvPicPr>
          <p:nvPr/>
        </p:nvPicPr>
        <p:blipFill>
          <a:blip r:embed="rId1"/>
          <a:stretch>
            <a:fillRect/>
          </a:stretch>
        </p:blipFill>
        <p:spPr>
          <a:xfrm>
            <a:off x="771754" y="1548994"/>
            <a:ext cx="285293" cy="285293"/>
          </a:xfrm>
          <a:prstGeom prst="rect">
            <a:avLst/>
          </a:prstGeom>
        </p:spPr>
      </p:pic>
      <p:sp>
        <p:nvSpPr>
          <p:cNvPr id="6" name="Text 3"/>
          <p:cNvSpPr txBox="1"/>
          <p:nvPr/>
        </p:nvSpPr>
        <p:spPr>
          <a:xfrm>
            <a:off x="1371600" y="1417320"/>
            <a:ext cx="29260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The cookie is full access</a:t>
            </a:r>
            <a:endParaRPr lang="en-US" sz="1600" dirty="0"/>
          </a:p>
        </p:txBody>
      </p:sp>
      <p:sp>
        <p:nvSpPr>
          <p:cNvPr id="7" name="Text 4"/>
          <p:cNvSpPr txBox="1"/>
          <p:nvPr/>
        </p:nvSpPr>
        <p:spPr>
          <a:xfrm>
            <a:off x="1371600" y="1810512"/>
            <a:ext cx="29260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Anyone with it can run any code on the node; giving it to the tool gives that to the agent.</a:t>
            </a:r>
            <a:endParaRPr lang="en-US" sz="1400" dirty="0"/>
          </a:p>
        </p:txBody>
      </p:sp>
      <p:sp>
        <p:nvSpPr>
          <p:cNvPr id="8" name="remote_eval stays off card"/>
          <p:cNvSpPr/>
          <p:nvPr/>
        </p:nvSpPr>
        <p:spPr>
          <a:xfrm>
            <a:off x="4663440" y="118872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9" name="remote_eval stays off circle"/>
          <p:cNvSpPr/>
          <p:nvPr/>
        </p:nvSpPr>
        <p:spPr>
          <a:xfrm>
            <a:off x="4846320" y="1417320"/>
            <a:ext cx="548640" cy="548640"/>
          </a:xfrm>
          <a:prstGeom prst="ellipse">
            <a:avLst/>
          </a:prstGeom>
          <a:solidFill>
            <a:schemeClr val="accent2"/>
          </a:solidFill>
          <a:ln w="12700">
            <a:solidFill>
              <a:schemeClr val="accent2"/>
            </a:solidFill>
            <a:prstDash val="solid"/>
          </a:ln>
        </p:spPr>
      </p:sp>
      <p:pic>
        <p:nvPicPr>
          <p:cNvPr id="10" name="remote_eval stays off icon" descr="remote_eval stays off">    </p:cNvPr>
          <p:cNvPicPr>
            <a:picLocks noChangeAspect="1"/>
          </p:cNvPicPr>
          <p:nvPr/>
        </p:nvPicPr>
        <p:blipFill>
          <a:blip r:embed="rId2"/>
          <a:stretch>
            <a:fillRect/>
          </a:stretch>
        </p:blipFill>
        <p:spPr>
          <a:xfrm>
            <a:off x="4977994" y="1548994"/>
            <a:ext cx="285293" cy="285293"/>
          </a:xfrm>
          <a:prstGeom prst="rect">
            <a:avLst/>
          </a:prstGeom>
        </p:spPr>
      </p:pic>
      <p:sp>
        <p:nvSpPr>
          <p:cNvPr id="11" name="Text 7"/>
          <p:cNvSpPr txBox="1"/>
          <p:nvPr/>
        </p:nvSpPr>
        <p:spPr>
          <a:xfrm>
            <a:off x="5577840" y="1417320"/>
            <a:ext cx="29260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remote_eval stays off</a:t>
            </a:r>
            <a:endParaRPr lang="en-US" sz="1600" dirty="0"/>
          </a:p>
        </p:txBody>
      </p:sp>
      <p:sp>
        <p:nvSpPr>
          <p:cNvPr id="12" name="Text 8"/>
          <p:cNvSpPr txBox="1"/>
          <p:nvPr/>
        </p:nvSpPr>
        <p:spPr>
          <a:xfrm>
            <a:off x="5577840" y="1810512"/>
            <a:ext cx="29260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default. The purpose-built tools answer without arbitrary code.</a:t>
            </a:r>
            <a:endParaRPr lang="en-US" sz="1400" dirty="0"/>
          </a:p>
        </p:txBody>
      </p:sp>
      <p:sp>
        <p:nvSpPr>
          <p:cNvPr id="13" name="Loading code needs you card"/>
          <p:cNvSpPr/>
          <p:nvPr/>
        </p:nvSpPr>
        <p:spPr>
          <a:xfrm>
            <a:off x="457200" y="288036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4" name="Loading code needs you circle"/>
          <p:cNvSpPr/>
          <p:nvPr/>
        </p:nvSpPr>
        <p:spPr>
          <a:xfrm>
            <a:off x="640080" y="3108960"/>
            <a:ext cx="548640" cy="548640"/>
          </a:xfrm>
          <a:prstGeom prst="ellipse">
            <a:avLst/>
          </a:prstGeom>
          <a:solidFill>
            <a:schemeClr val="accent4"/>
          </a:solidFill>
          <a:ln w="12700">
            <a:solidFill>
              <a:schemeClr val="accent4"/>
            </a:solidFill>
            <a:prstDash val="solid"/>
          </a:ln>
        </p:spPr>
      </p:sp>
      <p:pic>
        <p:nvPicPr>
          <p:cNvPr id="15" name="Loading code needs you icon" descr="Loading code needs you">    </p:cNvPr>
          <p:cNvPicPr>
            <a:picLocks noChangeAspect="1"/>
          </p:cNvPicPr>
          <p:nvPr/>
        </p:nvPicPr>
        <p:blipFill>
          <a:blip r:embed="rId3"/>
          <a:stretch>
            <a:fillRect/>
          </a:stretch>
        </p:blipFill>
        <p:spPr>
          <a:xfrm>
            <a:off x="771754" y="3240634"/>
            <a:ext cx="285293" cy="285293"/>
          </a:xfrm>
          <a:prstGeom prst="rect">
            <a:avLst/>
          </a:prstGeom>
        </p:spPr>
      </p:pic>
      <p:sp>
        <p:nvSpPr>
          <p:cNvPr id="16" name="Text 11"/>
          <p:cNvSpPr txBox="1"/>
          <p:nvPr/>
        </p:nvSpPr>
        <p:spPr>
          <a:xfrm>
            <a:off x="1371600" y="3108960"/>
            <a:ext cx="29260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Loading code needs you</a:t>
            </a:r>
            <a:endParaRPr lang="en-US" sz="1600" dirty="0"/>
          </a:p>
        </p:txBody>
      </p:sp>
      <p:sp>
        <p:nvSpPr>
          <p:cNvPr id="17" name="Text 12"/>
          <p:cNvSpPr txBox="1"/>
          <p:nvPr/>
        </p:nvSpPr>
        <p:spPr>
          <a:xfrm>
            <a:off x="1371600" y="3502152"/>
            <a:ext cx="29260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load_module shows a dialog every time, and lasts until a restart.</a:t>
            </a:r>
            <a:endParaRPr lang="en-US" sz="1400" dirty="0"/>
          </a:p>
        </p:txBody>
      </p:sp>
      <p:sp>
        <p:nvSpPr>
          <p:cNvPr id="18" name="Output goes to the AI provider card"/>
          <p:cNvSpPr/>
          <p:nvPr/>
        </p:nvSpPr>
        <p:spPr>
          <a:xfrm>
            <a:off x="4663440" y="288036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9" name="Output goes to the AI provider circle"/>
          <p:cNvSpPr/>
          <p:nvPr/>
        </p:nvSpPr>
        <p:spPr>
          <a:xfrm>
            <a:off x="4846320" y="3108960"/>
            <a:ext cx="548640" cy="548640"/>
          </a:xfrm>
          <a:prstGeom prst="ellipse">
            <a:avLst/>
          </a:prstGeom>
          <a:solidFill>
            <a:schemeClr val="accent3"/>
          </a:solidFill>
          <a:ln w="12700">
            <a:solidFill>
              <a:schemeClr val="accent3"/>
            </a:solidFill>
            <a:prstDash val="solid"/>
          </a:ln>
        </p:spPr>
      </p:sp>
      <p:pic>
        <p:nvPicPr>
          <p:cNvPr id="20" name="Output goes to the AI provider icon" descr="Output goes to the AI provider">    </p:cNvPr>
          <p:cNvPicPr>
            <a:picLocks noChangeAspect="1"/>
          </p:cNvPicPr>
          <p:nvPr/>
        </p:nvPicPr>
        <p:blipFill>
          <a:blip r:embed="rId4"/>
          <a:stretch>
            <a:fillRect/>
          </a:stretch>
        </p:blipFill>
        <p:spPr>
          <a:xfrm>
            <a:off x="4977994" y="3240634"/>
            <a:ext cx="285293" cy="285293"/>
          </a:xfrm>
          <a:prstGeom prst="rect">
            <a:avLst/>
          </a:prstGeom>
        </p:spPr>
      </p:pic>
      <p:sp>
        <p:nvSpPr>
          <p:cNvPr id="21" name="Text 15"/>
          <p:cNvSpPr txBox="1"/>
          <p:nvPr/>
        </p:nvSpPr>
        <p:spPr>
          <a:xfrm>
            <a:off x="5577840" y="3108960"/>
            <a:ext cx="29260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Output goes to the AI provider</a:t>
            </a:r>
            <a:endParaRPr lang="en-US" sz="1600" dirty="0"/>
          </a:p>
        </p:txBody>
      </p:sp>
      <p:sp>
        <p:nvSpPr>
          <p:cNvPr id="22" name="Text 16"/>
          <p:cNvSpPr txBox="1"/>
          <p:nvPr/>
        </p:nvSpPr>
        <p:spPr>
          <a:xfrm>
            <a:off x="5577840" y="3502152"/>
            <a:ext cx="29260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State, traced arguments, log lines: mind secrets and personal data.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7724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Try the three yourself</a:t>
            </a:r>
            <a:endParaRPr lang="en-US" sz="3600" dirty="0"/>
          </a:p>
        </p:txBody>
      </p:sp>
      <p:sp>
        <p:nvSpPr>
          <p:cNvPr id="3" name="Command card"/>
          <p:cNvSpPr/>
          <p:nvPr/>
        </p:nvSpPr>
        <p:spPr>
          <a:xfrm>
            <a:off x="548640" y="1325880"/>
            <a:ext cx="8046720" cy="1325880"/>
          </a:xfrm>
          <a:prstGeom prst="roundRect">
            <a:avLst>
              <a:gd name="adj" fmla="val 5517"/>
            </a:avLst>
          </a:prstGeom>
          <a:solidFill>
            <a:schemeClr val="tx1"/>
          </a:solidFill>
          <a:ln w="12700">
            <a:solidFill>
              <a:schemeClr val="tx1"/>
            </a:solidFill>
            <a:prstDash val="solid"/>
          </a:ln>
        </p:spPr>
      </p:sp>
      <p:sp>
        <p:nvSpPr>
          <p:cNvPr id="4" name="Text 2"/>
          <p:cNvSpPr txBox="1"/>
          <p:nvPr/>
        </p:nvSpPr>
        <p:spPr>
          <a:xfrm>
            <a:off x="777240" y="1417320"/>
            <a:ext cx="7589520" cy="1143000"/>
          </a:xfrm>
          <a:prstGeom prst="rect">
            <a:avLst/>
          </a:prstGeom>
          <a:noFill/>
          <a:ln/>
        </p:spPr>
        <p:txBody>
          <a:bodyPr wrap="squar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examples/elixir/run.sh payments   # scenario 1</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examples/erlang/run.sh orders     # scenario 2</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examples/erlang/run.sh crash      # scenario 3</a:t>
            </a:r>
            <a:endParaRPr lang="en-US" sz="1600" dirty="0"/>
          </a:p>
        </p:txBody>
      </p:sp>
      <p:sp>
        <p:nvSpPr>
          <p:cNvPr id="5" name="otp_debug_mcp circle"/>
          <p:cNvSpPr/>
          <p:nvPr/>
        </p:nvSpPr>
        <p:spPr>
          <a:xfrm>
            <a:off x="548640" y="2880360"/>
            <a:ext cx="502920" cy="502920"/>
          </a:xfrm>
          <a:prstGeom prst="ellipse">
            <a:avLst/>
          </a:prstGeom>
          <a:solidFill>
            <a:schemeClr val="accent1"/>
          </a:solidFill>
          <a:ln w="12700">
            <a:solidFill>
              <a:schemeClr val="accent1"/>
            </a:solidFill>
            <a:prstDash val="solid"/>
          </a:ln>
        </p:spPr>
      </p:sp>
      <p:pic>
        <p:nvPicPr>
          <p:cNvPr id="6" name="otp_debug_mcp icon" descr="otp_debug_mcp">    </p:cNvPr>
          <p:cNvPicPr>
            <a:picLocks noChangeAspect="1"/>
          </p:cNvPicPr>
          <p:nvPr/>
        </p:nvPicPr>
        <p:blipFill>
          <a:blip r:embed="rId1"/>
          <a:stretch>
            <a:fillRect/>
          </a:stretch>
        </p:blipFill>
        <p:spPr>
          <a:xfrm>
            <a:off x="669341" y="3001061"/>
            <a:ext cx="261518" cy="261518"/>
          </a:xfrm>
          <a:prstGeom prst="rect">
            <a:avLst/>
          </a:prstGeom>
        </p:spPr>
      </p:pic>
      <p:sp>
        <p:nvSpPr>
          <p:cNvPr id="7" name="Text 4"/>
          <p:cNvSpPr txBox="1"/>
          <p:nvPr/>
        </p:nvSpPr>
        <p:spPr>
          <a:xfrm>
            <a:off x="1234440" y="2852928"/>
            <a:ext cx="7315200" cy="27432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otp_debug_mcp</a:t>
            </a:r>
            <a:endParaRPr lang="en-US" sz="1500" dirty="0"/>
          </a:p>
        </p:txBody>
      </p:sp>
      <p:sp>
        <p:nvSpPr>
          <p:cNvPr id="8" name="Text 5"/>
          <p:cNvSpPr txBox="1"/>
          <p:nvPr/>
        </p:nvSpPr>
        <p:spPr>
          <a:xfrm>
            <a:off x="1234440" y="3127248"/>
            <a:ext cx="7315200" cy="2743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github.com/ayarodionov/otp_debug_mcp</a:t>
            </a:r>
            <a:endParaRPr lang="en-US" sz="1300" dirty="0"/>
          </a:p>
        </p:txBody>
      </p:sp>
      <p:sp>
        <p:nvSpPr>
          <p:cNvPr id="9" name="All 27 scenarios circle"/>
          <p:cNvSpPr/>
          <p:nvPr/>
        </p:nvSpPr>
        <p:spPr>
          <a:xfrm>
            <a:off x="548640" y="3566160"/>
            <a:ext cx="502920" cy="502920"/>
          </a:xfrm>
          <a:prstGeom prst="ellipse">
            <a:avLst/>
          </a:prstGeom>
          <a:solidFill>
            <a:schemeClr val="accent1"/>
          </a:solidFill>
          <a:ln w="12700">
            <a:solidFill>
              <a:schemeClr val="accent1"/>
            </a:solidFill>
            <a:prstDash val="solid"/>
          </a:ln>
        </p:spPr>
      </p:sp>
      <p:pic>
        <p:nvPicPr>
          <p:cNvPr id="10" name="All 27 scenarios icon" descr="All 27 scenarios">    </p:cNvPr>
          <p:cNvPicPr>
            <a:picLocks noChangeAspect="1"/>
          </p:cNvPicPr>
          <p:nvPr/>
        </p:nvPicPr>
        <p:blipFill>
          <a:blip r:embed="rId2"/>
          <a:stretch>
            <a:fillRect/>
          </a:stretch>
        </p:blipFill>
        <p:spPr>
          <a:xfrm>
            <a:off x="669341" y="3686861"/>
            <a:ext cx="261518" cy="261518"/>
          </a:xfrm>
          <a:prstGeom prst="rect">
            <a:avLst/>
          </a:prstGeom>
        </p:spPr>
      </p:pic>
      <p:sp>
        <p:nvSpPr>
          <p:cNvPr id="11" name="Text 7"/>
          <p:cNvSpPr txBox="1"/>
          <p:nvPr/>
        </p:nvSpPr>
        <p:spPr>
          <a:xfrm>
            <a:off x="1234440" y="3538728"/>
            <a:ext cx="7315200" cy="27432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All 27 scenarios</a:t>
            </a:r>
            <a:endParaRPr lang="en-US" sz="1500" dirty="0"/>
          </a:p>
        </p:txBody>
      </p:sp>
      <p:sp>
        <p:nvSpPr>
          <p:cNvPr id="12" name="Text 8"/>
          <p:cNvSpPr txBox="1"/>
          <p:nvPr/>
        </p:nvSpPr>
        <p:spPr>
          <a:xfrm>
            <a:off x="1234440" y="3813048"/>
            <a:ext cx="7315200" cy="2743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docs/scenarios.md</a:t>
            </a:r>
            <a:endParaRPr lang="en-US" sz="1300" dirty="0"/>
          </a:p>
        </p:txBody>
      </p:sp>
      <p:sp>
        <p:nvSpPr>
          <p:cNvPr id="13" name="The recorded sessions circle"/>
          <p:cNvSpPr/>
          <p:nvPr/>
        </p:nvSpPr>
        <p:spPr>
          <a:xfrm>
            <a:off x="548640" y="4251960"/>
            <a:ext cx="502920" cy="502920"/>
          </a:xfrm>
          <a:prstGeom prst="ellipse">
            <a:avLst/>
          </a:prstGeom>
          <a:solidFill>
            <a:schemeClr val="accent1"/>
          </a:solidFill>
          <a:ln w="12700">
            <a:solidFill>
              <a:schemeClr val="accent1"/>
            </a:solidFill>
            <a:prstDash val="solid"/>
          </a:ln>
        </p:spPr>
      </p:sp>
      <p:pic>
        <p:nvPicPr>
          <p:cNvPr id="14" name="The recorded sessions icon" descr="The recorded sessions">    </p:cNvPr>
          <p:cNvPicPr>
            <a:picLocks noChangeAspect="1"/>
          </p:cNvPicPr>
          <p:nvPr/>
        </p:nvPicPr>
        <p:blipFill>
          <a:blip r:embed="rId3"/>
          <a:stretch>
            <a:fillRect/>
          </a:stretch>
        </p:blipFill>
        <p:spPr>
          <a:xfrm>
            <a:off x="669341" y="4372661"/>
            <a:ext cx="261518" cy="261518"/>
          </a:xfrm>
          <a:prstGeom prst="rect">
            <a:avLst/>
          </a:prstGeom>
        </p:spPr>
      </p:pic>
      <p:sp>
        <p:nvSpPr>
          <p:cNvPr id="15" name="Text 10"/>
          <p:cNvSpPr txBox="1"/>
          <p:nvPr/>
        </p:nvSpPr>
        <p:spPr>
          <a:xfrm>
            <a:off x="1234440" y="4224528"/>
            <a:ext cx="7315200" cy="27432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The recorded sessions</a:t>
            </a:r>
            <a:endParaRPr lang="en-US" sz="1500" dirty="0"/>
          </a:p>
        </p:txBody>
      </p:sp>
      <p:sp>
        <p:nvSpPr>
          <p:cNvPr id="16" name="Text 11"/>
          <p:cNvSpPr txBox="1"/>
          <p:nvPr/>
        </p:nvSpPr>
        <p:spPr>
          <a:xfrm>
            <a:off x="1234440" y="4498848"/>
            <a:ext cx="7315200" cy="27432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docs/walkthroughs.md: walkthroughs 2, 4, 9 and 10</a:t>
            </a:r>
            <a:endParaRPr lang="en-US" sz="1300" dirty="0"/>
          </a:p>
        </p:txBody>
      </p:sp>
    </p:spTree>
  </p:cSld>
  <p:clrMapOvr>
    <a:masterClrMapping/>
  </p:clrMapOvr>
</p:sld>
</file>

<file path=ppt/theme/theme1.xml><?xml version="1.0" encoding="utf-8"?>
<a:theme xmlns:a="http://schemas.openxmlformats.org/drawingml/2006/main" name="BEAM Plum">
  <a:themeElements>
    <a:clrScheme name="BEAM Plum">
      <a:dk1>
        <a:srgbClr val="1E1A22"/>
      </a:dk1>
      <a:lt1>
        <a:srgbClr val="FFFFFF"/>
      </a:lt1>
      <a:dk2>
        <a:srgbClr val="3A1D4A"/>
      </a:dk2>
      <a:lt2>
        <a:srgbClr val="F3EFF5"/>
      </a:lt2>
      <a:accent1>
        <a:srgbClr val="A90533"/>
      </a:accent1>
      <a:accent2>
        <a:srgbClr val="6E4A7E"/>
      </a:accent2>
      <a:accent3>
        <a:srgbClr val="C98A1E"/>
      </a:accent3>
      <a:accent4>
        <a:srgbClr val="2E7D6B"/>
      </a:accent4>
      <a:accent5>
        <a:srgbClr val="7A7282"/>
      </a:accent5>
      <a:accent6>
        <a:srgbClr val="D9CFE0"/>
      </a:accent6>
      <a:hlink>
        <a:srgbClr val="A90533"/>
      </a:hlink>
      <a:folHlink>
        <a:srgbClr val="6E4A7E"/>
      </a:folHlink>
    </a:clrScheme>
    <a:fontScheme name="BEAM Pl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ways a node fails, and how an agent finds out</dc:title>
  <dc:subject>PptxGenJS Presentation</dc:subject>
  <dc:creator>Anatoly Rodionov</dc:creator>
  <cp:lastModifiedBy>Anatoly Rodionov</cp:lastModifiedBy>
  <cp:revision>1</cp:revision>
  <dcterms:created xsi:type="dcterms:W3CDTF">2026-10-26T19:56:03Z</dcterms:created>
  <dcterms:modified xsi:type="dcterms:W3CDTF">2026-10-26T19:56:03Z</dcterms:modified>
</cp:coreProperties>
</file>