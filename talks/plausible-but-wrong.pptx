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3e30b74b-6a3a-0186-2982-2c53dd49e25d}">
          <p14:sldIdLst>
            <p14:sldId id="256"/>
          </p14:sldIdLst>
        </p14:section>
        <p14:section name="The idea" id="{9f998337-4e89-7bf7-1044-87c8dd7f5875}">
          <p14:sldIdLst>
            <p14:sldId id="257"/>
          </p14:sldIdLst>
        </p14:section>
        <p14:section name="The tool" id="{214218f3-4aa6-1e4a-0e94-90a1016fd57f}">
          <p14:sldIdLst>
            <p14:sldId id="258"/>
          </p14:sldIdLst>
        </p14:section>
        <p14:section name="The runs" id="{213c73fb-5de2-26b5-7f7b-6b321fbda1bd}">
          <p14:sldIdLst>
            <p14:sldId id="259"/>
            <p14:sldId id="260"/>
            <p14:sldId id="261"/>
          </p14:sldIdLst>
        </p14:section>
        <p14:section name="What changed" id="{682b9f74-60c0-d864-e2ee-dd57114c30fc}">
          <p14:sldIdLst>
            <p14:sldId id="262"/>
          </p14:sldIdLst>
        </p14:section>
        <p14:section name="Closing" id="{05227771-afda-a32d-48af-b50f1e8f07a0}">
          <p14:sldIdLst>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chapter of my two books, Learning Erlang from Claude and Learning Elixir from Claude, ends with a section called Plausible but wrong. This talk is about what happens when that code isn't caught in review, and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books teach you to spot these bugs in review: code that compiles, passes a happy-path test, and fails under crashes, timing or load. But some get through. Then nobody sees the code; they see symptoms. A page that hangs for five seconds. Memory that climbs. All connections dropping at once. Or worst of all, failures that nothing logs, and metrics that quietly go flat. The question for this talk: can an AI agent get from the symptom back to the bug, on the running node?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otp_debug_mcp is an MCP server. The agent talks to it over stdio, and it joins your node over Erlang distribution as a hidden node. The target needs no changes: no dependency, no redeploy. recon is injected if it's missing. The first call is diagnose, which runs a whole battery of checks and returns ranked findings with interpretations, instead of making the agent piece it together from raw process info. And it's built for production: every trace is capped on events and time, and on OTP 27 and later it runs in its own trace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I ran six of the examples, each on a node of its own, with a little traffic around the book's code. For each node, a headless Claude Code session got only the symptom, the way an operator would report it, and only the otp-debug tools. No shell, no source files. It read the code from the running beam files. All six found the cause and the book's fix, in under 75 seconds, for well under a dollar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six. Four from the Erlang book, two from the Elixir one. Two gen_servers calling each other: recent_errors caught both crashes in the same millisecond. A small slice of a huge binary: the first diagnose said 100 kilobytes of headers were pinning 210 megabytes. A receive loop with no catch-all: the mailbox grew at exactly the rate of the message it doesn't match. Permanent per-connection workers: one client's bad line, twice in a second, and the supervisor took all 50 connections down. Parsing by catching exceptions: nothing logged, but tracing only the calls that raise showed every bad input. And a telemetry handler that raised once: telemetry detached it, the metrics went flat, and the tool showed no handlers left while the events kept firing.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up close. This handler keeps a 512-byte header from each 1 megabyte body. It looks harmless. But a slice bigger than 64 bytes is a pointer into the original binary, so every header keeps its whole body alive. The very first diagnose call found it: the headers process held 92 percent of binary memory, 100 kilobytes of real data pinning 210 megabytes, and the check said what kind of leak it was: slices, fixed with binary:copy. That's the book's fix, found from the symptom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runs also tested the tool, and it didn't pass everything. In the deadlock run, diagnose returned an internal error: the deadlock check only understood calls with an explicit timeout, so the commonest deadlock broke the check that exists to find it. That's fixed in 0.7.0. Two features came from the examples too. A deadlock is usually over before you look, ended by a five-second timeout, so recent_errors now reports processes that crashed calling each other. And for swallowed exceptions, you no longer have to guess which function to trace: give trace_calls the process, and it shows every function that raises in it, with where it was called.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is in the repository. examples/books/run.sh all starts the six nodes; point an agent at one with only the symptom and watch what it does. The write-up has the tool output for each. And if you've met a bug in production that belongs in the next set of examples, I'd like to hear about it.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TITL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5669280" cy="146304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2834640"/>
            <a:ext cx="5669280" cy="1280160"/>
          </a:xfrm>
          <a:prstGeom prst="rect">
            <a:avLst/>
          </a:prstGeom>
          <a:noFill/>
          <a:ln/>
        </p:spPr>
        <p:txBody>
          <a:bodyPr wrap="square" rtlCol="0"/>
          <a:lstStyle>
            <a:lvl1pPr algn="l" indent="0" marL="0">
              <a:buNone/>
              <a:defRPr lang="en-US" sz="1800" dirty="0">
                <a:solidFill>
                  <a:schemeClr val="accent6"/>
                </a:solidFill>
                <a:latin typeface="Calibri" pitchFamily="34" charset="0"/>
                <a:ea typeface="Calibri" pitchFamily="34" charset="-122"/>
                <a:cs typeface="Calibri" pitchFamily="34" charset="-120"/>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algn="l" indent="0" marL="0">
              <a:buNone/>
              <a:defRPr lang="en-US" sz="32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3" name="Text 0"/>
          <p:cNvSpPr/>
          <p:nvPr/>
        </p:nvSpPr>
        <p:spPr>
          <a:xfrm>
            <a:off x="457200" y="4754880"/>
            <a:ext cx="5486400" cy="274320"/>
          </a:xfrm>
          <a:prstGeom prst="rect">
            <a:avLst/>
          </a:prstGeom>
          <a:noFill/>
          <a:ln/>
        </p:spPr>
        <p:txBody>
          <a:bodyPr wrap="square" lIns="0" tIns="0" rIns="0" bIns="0" rtlCol="0" anchor="ctr"/>
          <a:lstStyle/>
          <a:p>
            <a:pPr indent="0" marL="0">
              <a:buNone/>
            </a:pPr>
            <a:r>
              <a:rPr lang="en-US" sz="1000" dirty="0">
                <a:solidFill>
                  <a:schemeClr val="accent5"/>
                </a:solidFill>
                <a:latin typeface="Calibri" pitchFamily="34" charset="0"/>
                <a:ea typeface="Calibri" pitchFamily="34" charset="-122"/>
                <a:cs typeface="Calibri" pitchFamily="34" charset="-120"/>
              </a:rPr>
              <a:t>otp_debug_mcp 0.7.0  ·  Plausible but wrong, on a live node</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_CLOSING">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8046720" cy="777240"/>
          </a:xfrm>
          <a:prstGeom prst="rect">
            <a:avLst/>
          </a:prstGeom>
          <a:noFill/>
          <a:ln/>
        </p:spPr>
        <p:txBody>
          <a:bodyPr wrap="square" rtlCol="0"/>
          <a:lstStyle>
            <a:lvl1pPr algn="l" indent="0" marL="0">
              <a:buNone/>
              <a:defRPr lang="en-US" sz="36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3.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4.xml"/><Relationship Id="rId5"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5669280" cy="1463040"/>
          </a:xfrm>
          <a:prstGeom prst="rect">
            <a:avLst/>
          </a:prstGeom>
          <a:noFill/>
          <a:ln/>
        </p:spPr>
        <p:txBody>
          <a:bodyPr wrap="square" lIns="0" tIns="0" rIns="0" bIns="0" rtlCol="0" anchor="b"/>
          <a:lstStyle/>
          <a:p>
            <a:pPr algn="l" indent="0" marL="0">
              <a:buNone/>
            </a:pPr>
            <a:r>
              <a:rPr lang="en-US" sz="4000" b="1" dirty="0">
                <a:solidFill>
                  <a:schemeClr val="bg1"/>
                </a:solidFill>
                <a:latin typeface="Cambria" pitchFamily="34" charset="0"/>
                <a:ea typeface="Cambria" pitchFamily="34" charset="-122"/>
                <a:cs typeface="Cambria" pitchFamily="34" charset="-120"/>
              </a:rPr>
              <a:t>Plausible but wrong, on a live node</a:t>
            </a:r>
            <a:endParaRPr lang="en-US" sz="4000" dirty="0"/>
          </a:p>
        </p:txBody>
      </p:sp>
      <p:sp>
        <p:nvSpPr>
          <p:cNvPr id="3" name="Text 0"/>
          <p:cNvSpPr/>
          <p:nvPr>
            <p:ph idx="101" type="body" hasCustomPrompt="1"/>
          </p:nvPr>
        </p:nvSpPr>
        <p:spPr>
          <a:xfrm>
            <a:off x="548640" y="2834640"/>
            <a:ext cx="5669280" cy="1280160"/>
          </a:xfrm>
          <a:prstGeom prst="rect">
            <a:avLst/>
          </a:prstGeom>
          <a:noFill/>
          <a:ln/>
        </p:spPr>
        <p:txBody>
          <a:bodyPr wrap="square" lIns="0" tIns="0" rIns="0" bIns="0" rtlCol="0" anchor="t"/>
          <a:lstStyle/>
          <a:p>
            <a:pPr algn="l" indent="0" marL="0">
              <a:buNone/>
            </a:pPr>
            <a:r>
              <a:rPr lang="en-US" sz="1800" dirty="0">
                <a:solidFill>
                  <a:schemeClr val="accent6"/>
                </a:solidFill>
                <a:latin typeface="Calibri" pitchFamily="34" charset="0"/>
                <a:ea typeface="Calibri" pitchFamily="34" charset="-122"/>
                <a:cs typeface="Calibri" pitchFamily="34" charset="-120"/>
              </a:rPr>
              <a:t>Debugging the books' examples with otp_debug_mcp 0.7.0</a:t>
            </a:r>
            <a:endParaRPr lang="en-US" sz="1800" dirty="0"/>
          </a:p>
          <a:p>
            <a:pPr algn="l" indent="0" marL="0">
              <a:buNone/>
            </a:pPr>
            <a:r>
              <a:rPr lang="en-US" sz="1400" dirty="0">
                <a:solidFill>
                  <a:schemeClr val="bg1"/>
                </a:solidFill>
                <a:latin typeface="Calibri" pitchFamily="34" charset="0"/>
                <a:ea typeface="Calibri" pitchFamily="34" charset="-122"/>
                <a:cs typeface="Calibri" pitchFamily="34" charset="-120"/>
              </a:rPr>
              <a:t>Anatoly Rodionov</a:t>
            </a:r>
            <a:endParaRPr lang="en-US" sz="1800" dirty="0"/>
          </a:p>
        </p:txBody>
      </p:sp>
      <p:sp>
        <p:nvSpPr>
          <p:cNvPr id="4" name="Bug circle"/>
          <p:cNvSpPr/>
          <p:nvPr/>
        </p:nvSpPr>
        <p:spPr>
          <a:xfrm>
            <a:off x="6720840" y="1417320"/>
            <a:ext cx="1828800" cy="1828800"/>
          </a:xfrm>
          <a:prstGeom prst="ellipse">
            <a:avLst/>
          </a:prstGeom>
          <a:solidFill>
            <a:schemeClr val="accent1"/>
          </a:solidFill>
          <a:ln w="12700">
            <a:solidFill>
              <a:schemeClr val="accent1"/>
            </a:solidFill>
            <a:prstDash val="solid"/>
          </a:ln>
        </p:spPr>
      </p:sp>
      <p:pic>
        <p:nvPicPr>
          <p:cNvPr id="5" name="Bug icon" descr="Bug">    </p:cNvPr>
          <p:cNvPicPr>
            <a:picLocks noChangeAspect="1"/>
          </p:cNvPicPr>
          <p:nvPr/>
        </p:nvPicPr>
        <p:blipFill>
          <a:blip r:embed="rId1"/>
          <a:stretch>
            <a:fillRect/>
          </a:stretch>
        </p:blipFill>
        <p:spPr>
          <a:xfrm>
            <a:off x="7159752" y="1856232"/>
            <a:ext cx="950976" cy="95097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The bug that passes review</a:t>
            </a:r>
            <a:endParaRPr lang="en-US" sz="3200" dirty="0"/>
          </a:p>
        </p:txBody>
      </p:sp>
      <p:sp>
        <p:nvSpPr>
          <p:cNvPr id="3" name="In review card"/>
          <p:cNvSpPr/>
          <p:nvPr/>
        </p:nvSpPr>
        <p:spPr>
          <a:xfrm>
            <a:off x="457200" y="1234440"/>
            <a:ext cx="3749040" cy="3246120"/>
          </a:xfrm>
          <a:prstGeom prst="roundRect">
            <a:avLst>
              <a:gd name="adj" fmla="val 2254"/>
            </a:avLst>
          </a:prstGeom>
          <a:solidFill>
            <a:schemeClr val="bg2"/>
          </a:solidFill>
          <a:ln w="12700">
            <a:solidFill>
              <a:schemeClr val="bg2"/>
            </a:solidFill>
            <a:prstDash val="solid"/>
          </a:ln>
          <a:effectLst>
            <a:outerShdw sx="100000" sy="100000" kx="0" ky="0" algn="bl" rotWithShape="0" blurRad="76200" dist="25400" dir="5400000">
              <a:srgbClr val="3A1D4A">
                <a:alpha val="12000"/>
              </a:srgbClr>
            </a:outerShdw>
          </a:effectLst>
        </p:spPr>
      </p:sp>
      <p:sp>
        <p:nvSpPr>
          <p:cNvPr id="4" name="Books circle"/>
          <p:cNvSpPr/>
          <p:nvPr/>
        </p:nvSpPr>
        <p:spPr>
          <a:xfrm>
            <a:off x="731520" y="1463040"/>
            <a:ext cx="640080" cy="640080"/>
          </a:xfrm>
          <a:prstGeom prst="ellipse">
            <a:avLst/>
          </a:prstGeom>
          <a:solidFill>
            <a:schemeClr val="accent2"/>
          </a:solidFill>
          <a:ln w="12700">
            <a:solidFill>
              <a:schemeClr val="accent2"/>
            </a:solidFill>
            <a:prstDash val="solid"/>
          </a:ln>
        </p:spPr>
      </p:sp>
      <p:pic>
        <p:nvPicPr>
          <p:cNvPr id="5" name="Books icon" descr="Books">    </p:cNvPr>
          <p:cNvPicPr>
            <a:picLocks noChangeAspect="1"/>
          </p:cNvPicPr>
          <p:nvPr/>
        </p:nvPicPr>
        <p:blipFill>
          <a:blip r:embed="rId1"/>
          <a:stretch>
            <a:fillRect/>
          </a:stretch>
        </p:blipFill>
        <p:spPr>
          <a:xfrm>
            <a:off x="885139" y="1616659"/>
            <a:ext cx="332842" cy="332842"/>
          </a:xfrm>
          <a:prstGeom prst="rect">
            <a:avLst/>
          </a:prstGeom>
        </p:spPr>
      </p:pic>
      <p:sp>
        <p:nvSpPr>
          <p:cNvPr id="6" name="Text 3"/>
          <p:cNvSpPr txBox="1"/>
          <p:nvPr/>
        </p:nvSpPr>
        <p:spPr>
          <a:xfrm>
            <a:off x="1554480" y="1554480"/>
            <a:ext cx="2468880" cy="457200"/>
          </a:xfrm>
          <a:prstGeom prst="rect">
            <a:avLst/>
          </a:prstGeom>
          <a:noFill/>
          <a:ln/>
        </p:spPr>
        <p:txBody>
          <a:bodyPr wrap="square" lIns="0" tIns="0" rIns="0" bIns="0" rtlCol="0" anchor="ctr"/>
          <a:lstStyle/>
          <a:p>
            <a:pPr indent="0" marL="0">
              <a:buNone/>
            </a:pPr>
            <a:r>
              <a:rPr lang="en-US" sz="2000" b="1" dirty="0">
                <a:solidFill>
                  <a:schemeClr val="tx2"/>
                </a:solidFill>
                <a:latin typeface="Calibri" pitchFamily="34" charset="0"/>
                <a:ea typeface="Calibri" pitchFamily="34" charset="-122"/>
                <a:cs typeface="Calibri" pitchFamily="34" charset="-120"/>
              </a:rPr>
              <a:t>In the books</a:t>
            </a:r>
            <a:endParaRPr lang="en-US" sz="2000" dirty="0"/>
          </a:p>
        </p:txBody>
      </p:sp>
      <p:sp>
        <p:nvSpPr>
          <p:cNvPr id="7" name="Text 4"/>
          <p:cNvSpPr txBox="1"/>
          <p:nvPr/>
        </p:nvSpPr>
        <p:spPr>
          <a:xfrm>
            <a:off x="731520" y="2331720"/>
            <a:ext cx="3200400" cy="118872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Each chapter's "Plausible but wrong" section: code that compiles, passes a happy-path test, and fails under crashes, timing or load.</a:t>
            </a:r>
            <a:endParaRPr lang="en-US" sz="1500" dirty="0"/>
          </a:p>
        </p:txBody>
      </p:sp>
      <p:sp>
        <p:nvSpPr>
          <p:cNvPr id="8" name="Text 5"/>
          <p:cNvSpPr txBox="1"/>
          <p:nvPr/>
        </p:nvSpPr>
        <p:spPr>
          <a:xfrm>
            <a:off x="731520" y="3703320"/>
            <a:ext cx="3200400" cy="548640"/>
          </a:xfrm>
          <a:prstGeom prst="rect">
            <a:avLst/>
          </a:prstGeom>
          <a:noFill/>
          <a:ln/>
        </p:spPr>
        <p:txBody>
          <a:bodyPr wrap="square" lIns="0" tIns="0" rIns="0" bIns="0" rtlCol="0" anchor="t"/>
          <a:lstStyle/>
          <a:p>
            <a:pPr indent="0" marL="0">
              <a:buNone/>
            </a:pPr>
            <a:r>
              <a:rPr lang="en-US" sz="1500" i="1" dirty="0">
                <a:solidFill>
                  <a:schemeClr val="accent2"/>
                </a:solidFill>
                <a:latin typeface="Calibri" pitchFamily="34" charset="0"/>
                <a:ea typeface="Calibri" pitchFamily="34" charset="-122"/>
                <a:cs typeface="Calibri" pitchFamily="34" charset="-120"/>
              </a:rPr>
              <a:t>The books teach spotting it in review.</a:t>
            </a:r>
            <a:endParaRPr lang="en-US" sz="1500" dirty="0"/>
          </a:p>
        </p:txBody>
      </p:sp>
      <p:sp>
        <p:nvSpPr>
          <p:cNvPr id="9" name="Arrow"/>
          <p:cNvSpPr/>
          <p:nvPr/>
        </p:nvSpPr>
        <p:spPr>
          <a:xfrm>
            <a:off x="4343400" y="2606040"/>
            <a:ext cx="457200" cy="457200"/>
          </a:xfrm>
          <a:prstGeom prst="rightArrow">
            <a:avLst/>
          </a:prstGeom>
          <a:solidFill>
            <a:schemeClr val="accent1"/>
          </a:solidFill>
          <a:ln w="12700">
            <a:solidFill>
              <a:schemeClr val="accent1"/>
            </a:solidFill>
            <a:prstDash val="solid"/>
          </a:ln>
        </p:spPr>
      </p:sp>
      <p:sp>
        <p:nvSpPr>
          <p:cNvPr id="10" name="In production card"/>
          <p:cNvSpPr/>
          <p:nvPr/>
        </p:nvSpPr>
        <p:spPr>
          <a:xfrm>
            <a:off x="4937760" y="1234440"/>
            <a:ext cx="3749040" cy="3246120"/>
          </a:xfrm>
          <a:prstGeom prst="roundRect">
            <a:avLst>
              <a:gd name="adj" fmla="val 2254"/>
            </a:avLst>
          </a:prstGeom>
          <a:solidFill>
            <a:schemeClr val="bg2"/>
          </a:solidFill>
          <a:ln w="12700">
            <a:solidFill>
              <a:schemeClr val="bg2"/>
            </a:solidFill>
            <a:prstDash val="solid"/>
          </a:ln>
          <a:effectLst>
            <a:outerShdw sx="100000" sy="100000" kx="0" ky="0" algn="bl" rotWithShape="0" blurRad="76200" dist="25400" dir="5400000">
              <a:srgbClr val="3A1D4A">
                <a:alpha val="12000"/>
              </a:srgbClr>
            </a:outerShdw>
          </a:effectLst>
        </p:spPr>
      </p:sp>
      <p:sp>
        <p:nvSpPr>
          <p:cNvPr id="11" name="Live node circle"/>
          <p:cNvSpPr/>
          <p:nvPr/>
        </p:nvSpPr>
        <p:spPr>
          <a:xfrm>
            <a:off x="5212080" y="1463040"/>
            <a:ext cx="640080" cy="640080"/>
          </a:xfrm>
          <a:prstGeom prst="ellipse">
            <a:avLst/>
          </a:prstGeom>
          <a:solidFill>
            <a:schemeClr val="accent1"/>
          </a:solidFill>
          <a:ln w="12700">
            <a:solidFill>
              <a:schemeClr val="accent1"/>
            </a:solidFill>
            <a:prstDash val="solid"/>
          </a:ln>
        </p:spPr>
      </p:sp>
      <p:pic>
        <p:nvPicPr>
          <p:cNvPr id="12" name="Live node icon" descr="Live node">    </p:cNvPr>
          <p:cNvPicPr>
            <a:picLocks noChangeAspect="1"/>
          </p:cNvPicPr>
          <p:nvPr/>
        </p:nvPicPr>
        <p:blipFill>
          <a:blip r:embed="rId2"/>
          <a:stretch>
            <a:fillRect/>
          </a:stretch>
        </p:blipFill>
        <p:spPr>
          <a:xfrm>
            <a:off x="5365699" y="1616659"/>
            <a:ext cx="332842" cy="332842"/>
          </a:xfrm>
          <a:prstGeom prst="rect">
            <a:avLst/>
          </a:prstGeom>
        </p:spPr>
      </p:pic>
      <p:sp>
        <p:nvSpPr>
          <p:cNvPr id="13" name="Text 9"/>
          <p:cNvSpPr txBox="1"/>
          <p:nvPr/>
        </p:nvSpPr>
        <p:spPr>
          <a:xfrm>
            <a:off x="6035040" y="1554480"/>
            <a:ext cx="2468880" cy="457200"/>
          </a:xfrm>
          <a:prstGeom prst="rect">
            <a:avLst/>
          </a:prstGeom>
          <a:noFill/>
          <a:ln/>
        </p:spPr>
        <p:txBody>
          <a:bodyPr wrap="square" lIns="0" tIns="0" rIns="0" bIns="0" rtlCol="0" anchor="ctr"/>
          <a:lstStyle/>
          <a:p>
            <a:pPr indent="0" marL="0">
              <a:buNone/>
            </a:pPr>
            <a:r>
              <a:rPr lang="en-US" sz="2000" b="1" dirty="0">
                <a:solidFill>
                  <a:schemeClr val="tx2"/>
                </a:solidFill>
                <a:latin typeface="Calibri" pitchFamily="34" charset="0"/>
                <a:ea typeface="Calibri" pitchFamily="34" charset="-122"/>
                <a:cs typeface="Calibri" pitchFamily="34" charset="-120"/>
              </a:rPr>
              <a:t>On a live node</a:t>
            </a:r>
            <a:endParaRPr lang="en-US" sz="2000" dirty="0"/>
          </a:p>
        </p:txBody>
      </p:sp>
      <p:sp>
        <p:nvSpPr>
          <p:cNvPr id="14" name="Text 10"/>
          <p:cNvSpPr txBox="1"/>
          <p:nvPr/>
        </p:nvSpPr>
        <p:spPr>
          <a:xfrm>
            <a:off x="5212080" y="2286000"/>
            <a:ext cx="3291840" cy="201168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chemeClr val="tx1"/>
                </a:solidFill>
                <a:latin typeface="Calibri" pitchFamily="34" charset="0"/>
                <a:ea typeface="Calibri" pitchFamily="34" charset="-122"/>
                <a:cs typeface="Calibri" pitchFamily="34" charset="-120"/>
              </a:rPr>
              <a:t>Hangs for 5 seconds, then fails</a:t>
            </a:r>
            <a:endParaRPr lang="en-US" sz="1500" dirty="0"/>
          </a:p>
          <a:p>
            <a:pPr marL="342900" indent="-342900">
              <a:spcAft>
                <a:spcPts val="400"/>
              </a:spcAft>
              <a:buSzPct val="100000"/>
              <a:buChar char="•"/>
            </a:pPr>
            <a:r>
              <a:rPr lang="en-US" sz="1500" dirty="0">
                <a:solidFill>
                  <a:schemeClr val="tx1"/>
                </a:solidFill>
                <a:latin typeface="Calibri" pitchFamily="34" charset="0"/>
                <a:ea typeface="Calibri" pitchFamily="34" charset="-122"/>
                <a:cs typeface="Calibri" pitchFamily="34" charset="-120"/>
              </a:rPr>
              <a:t>Memory climbs to hundreds of MB</a:t>
            </a:r>
            <a:endParaRPr lang="en-US" sz="1500" dirty="0"/>
          </a:p>
          <a:p>
            <a:pPr marL="342900" indent="-342900">
              <a:spcAft>
                <a:spcPts val="400"/>
              </a:spcAft>
              <a:buSzPct val="100000"/>
              <a:buChar char="•"/>
            </a:pPr>
            <a:r>
              <a:rPr lang="en-US" sz="1500" dirty="0">
                <a:solidFill>
                  <a:schemeClr val="tx1"/>
                </a:solidFill>
                <a:latin typeface="Calibri" pitchFamily="34" charset="0"/>
                <a:ea typeface="Calibri" pitchFamily="34" charset="-122"/>
                <a:cs typeface="Calibri" pitchFamily="34" charset="-120"/>
              </a:rPr>
              <a:t>A counter gets slower and slower</a:t>
            </a:r>
            <a:endParaRPr lang="en-US" sz="1500" dirty="0"/>
          </a:p>
          <a:p>
            <a:pPr marL="342900" indent="-342900">
              <a:spcAft>
                <a:spcPts val="400"/>
              </a:spcAft>
              <a:buSzPct val="100000"/>
              <a:buChar char="•"/>
            </a:pPr>
            <a:r>
              <a:rPr lang="en-US" sz="1500" dirty="0">
                <a:solidFill>
                  <a:schemeClr val="tx1"/>
                </a:solidFill>
                <a:latin typeface="Calibri" pitchFamily="34" charset="0"/>
                <a:ea typeface="Calibri" pitchFamily="34" charset="-122"/>
                <a:cs typeface="Calibri" pitchFamily="34" charset="-120"/>
              </a:rPr>
              <a:t>All 50 connections drop at once</a:t>
            </a:r>
            <a:endParaRPr lang="en-US" sz="1500" dirty="0"/>
          </a:p>
          <a:p>
            <a:pPr marL="342900" indent="-342900">
              <a:spcAft>
                <a:spcPts val="400"/>
              </a:spcAft>
              <a:buSzPct val="100000"/>
              <a:buChar char="•"/>
            </a:pPr>
            <a:r>
              <a:rPr lang="en-US" sz="1500" dirty="0">
                <a:solidFill>
                  <a:schemeClr val="tx1"/>
                </a:solidFill>
                <a:latin typeface="Calibri" pitchFamily="34" charset="0"/>
                <a:ea typeface="Calibri" pitchFamily="34" charset="-122"/>
                <a:cs typeface="Calibri" pitchFamily="34" charset="-120"/>
              </a:rPr>
              <a:t>Failures that nothing logs</a:t>
            </a:r>
            <a:endParaRPr lang="en-US" sz="1500" dirty="0"/>
          </a:p>
          <a:p>
            <a:pPr marL="342900" indent="-342900">
              <a:spcAft>
                <a:spcPts val="400"/>
              </a:spcAft>
              <a:buSzPct val="100000"/>
              <a:buChar char="•"/>
            </a:pPr>
            <a:r>
              <a:rPr lang="en-US" sz="1500" dirty="0">
                <a:solidFill>
                  <a:schemeClr val="tx1"/>
                </a:solidFill>
                <a:latin typeface="Calibri" pitchFamily="34" charset="0"/>
                <a:ea typeface="Calibri" pitchFamily="34" charset="-122"/>
                <a:cs typeface="Calibri" pitchFamily="34" charset="-120"/>
              </a:rPr>
              <a:t>Metrics that go flat</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How otp_debug_mcp attaches</a:t>
            </a:r>
            <a:endParaRPr lang="en-US" sz="3200" dirty="0"/>
          </a:p>
        </p:txBody>
      </p:sp>
      <p:sp>
        <p:nvSpPr>
          <p:cNvPr id="3" name="AI agent circle"/>
          <p:cNvSpPr/>
          <p:nvPr/>
        </p:nvSpPr>
        <p:spPr>
          <a:xfrm>
            <a:off x="1325880" y="1188720"/>
            <a:ext cx="777240" cy="777240"/>
          </a:xfrm>
          <a:prstGeom prst="ellipse">
            <a:avLst/>
          </a:prstGeom>
          <a:solidFill>
            <a:schemeClr val="accent2"/>
          </a:solidFill>
          <a:ln w="12700">
            <a:solidFill>
              <a:schemeClr val="accent2"/>
            </a:solidFill>
            <a:prstDash val="solid"/>
          </a:ln>
        </p:spPr>
      </p:sp>
      <p:pic>
        <p:nvPicPr>
          <p:cNvPr id="4" name="AI agent icon" descr="AI agent">    </p:cNvPr>
          <p:cNvPicPr>
            <a:picLocks noChangeAspect="1"/>
          </p:cNvPicPr>
          <p:nvPr/>
        </p:nvPicPr>
        <p:blipFill>
          <a:blip r:embed="rId1"/>
          <a:stretch>
            <a:fillRect/>
          </a:stretch>
        </p:blipFill>
        <p:spPr>
          <a:xfrm>
            <a:off x="1512418" y="1375258"/>
            <a:ext cx="404165" cy="404165"/>
          </a:xfrm>
          <a:prstGeom prst="rect">
            <a:avLst/>
          </a:prstGeom>
        </p:spPr>
      </p:pic>
      <p:sp>
        <p:nvSpPr>
          <p:cNvPr id="5" name="Text 2"/>
          <p:cNvSpPr txBox="1"/>
          <p:nvPr/>
        </p:nvSpPr>
        <p:spPr>
          <a:xfrm>
            <a:off x="640080" y="2057400"/>
            <a:ext cx="2148840" cy="365760"/>
          </a:xfrm>
          <a:prstGeom prst="rect">
            <a:avLst/>
          </a:prstGeom>
          <a:noFill/>
          <a:ln/>
        </p:spPr>
        <p:txBody>
          <a:bodyPr wrap="square" lIns="0" tIns="0" rIns="0" bIns="0" rtlCol="0" anchor="t"/>
          <a:lstStyle/>
          <a:p>
            <a:pPr algn="ctr" indent="0" marL="0">
              <a:buNone/>
            </a:pPr>
            <a:r>
              <a:rPr lang="en-US" sz="1700" b="1" dirty="0">
                <a:solidFill>
                  <a:schemeClr val="tx2"/>
                </a:solidFill>
                <a:latin typeface="Calibri" pitchFamily="34" charset="0"/>
                <a:ea typeface="Calibri" pitchFamily="34" charset="-122"/>
                <a:cs typeface="Calibri" pitchFamily="34" charset="-120"/>
              </a:rPr>
              <a:t>AI agent</a:t>
            </a:r>
            <a:endParaRPr lang="en-US" sz="1700" dirty="0"/>
          </a:p>
        </p:txBody>
      </p:sp>
      <p:sp>
        <p:nvSpPr>
          <p:cNvPr id="6" name="Text 3"/>
          <p:cNvSpPr txBox="1"/>
          <p:nvPr/>
        </p:nvSpPr>
        <p:spPr>
          <a:xfrm>
            <a:off x="640080" y="2395728"/>
            <a:ext cx="2148840" cy="320040"/>
          </a:xfrm>
          <a:prstGeom prst="rect">
            <a:avLst/>
          </a:prstGeom>
          <a:noFill/>
          <a:ln/>
        </p:spPr>
        <p:txBody>
          <a:bodyPr wrap="square" lIns="0" tIns="0" rIns="0" bIns="0" rtlCol="0" anchor="t"/>
          <a:lstStyle/>
          <a:p>
            <a:pPr algn="ctr" indent="0" marL="0">
              <a:buNone/>
            </a:pPr>
            <a:r>
              <a:rPr lang="en-US" sz="1300" dirty="0">
                <a:solidFill>
                  <a:schemeClr val="accent5"/>
                </a:solidFill>
                <a:latin typeface="Calibri" pitchFamily="34" charset="0"/>
                <a:ea typeface="Calibri" pitchFamily="34" charset="-122"/>
                <a:cs typeface="Calibri" pitchFamily="34" charset="-120"/>
              </a:rPr>
              <a:t>Claude Code, Cursor, …</a:t>
            </a:r>
            <a:endParaRPr lang="en-US" sz="1300" dirty="0"/>
          </a:p>
        </p:txBody>
      </p:sp>
      <p:sp>
        <p:nvSpPr>
          <p:cNvPr id="7" name="Flow arrow 1"/>
          <p:cNvSpPr/>
          <p:nvPr/>
        </p:nvSpPr>
        <p:spPr>
          <a:xfrm>
            <a:off x="2880360" y="1417320"/>
            <a:ext cx="548640" cy="320040"/>
          </a:xfrm>
          <a:prstGeom prst="rightArrow">
            <a:avLst/>
          </a:prstGeom>
          <a:solidFill>
            <a:schemeClr val="accent6"/>
          </a:solidFill>
          <a:ln w="12700">
            <a:solidFill>
              <a:schemeClr val="accent6"/>
            </a:solidFill>
            <a:prstDash val="solid"/>
          </a:ln>
        </p:spPr>
      </p:sp>
      <p:sp>
        <p:nvSpPr>
          <p:cNvPr id="8" name="otp_debug_mcp circle"/>
          <p:cNvSpPr/>
          <p:nvPr/>
        </p:nvSpPr>
        <p:spPr>
          <a:xfrm>
            <a:off x="4206240" y="1188720"/>
            <a:ext cx="777240" cy="777240"/>
          </a:xfrm>
          <a:prstGeom prst="ellipse">
            <a:avLst/>
          </a:prstGeom>
          <a:solidFill>
            <a:schemeClr val="tx2"/>
          </a:solidFill>
          <a:ln w="12700">
            <a:solidFill>
              <a:schemeClr val="tx2"/>
            </a:solidFill>
            <a:prstDash val="solid"/>
          </a:ln>
        </p:spPr>
      </p:sp>
      <p:pic>
        <p:nvPicPr>
          <p:cNvPr id="9" name="otp_debug_mcp icon" descr="otp_debug_mcp">    </p:cNvPr>
          <p:cNvPicPr>
            <a:picLocks noChangeAspect="1"/>
          </p:cNvPicPr>
          <p:nvPr/>
        </p:nvPicPr>
        <p:blipFill>
          <a:blip r:embed="rId2"/>
          <a:stretch>
            <a:fillRect/>
          </a:stretch>
        </p:blipFill>
        <p:spPr>
          <a:xfrm>
            <a:off x="4392778" y="1375258"/>
            <a:ext cx="404165" cy="404165"/>
          </a:xfrm>
          <a:prstGeom prst="rect">
            <a:avLst/>
          </a:prstGeom>
        </p:spPr>
      </p:pic>
      <p:sp>
        <p:nvSpPr>
          <p:cNvPr id="10" name="Text 6"/>
          <p:cNvSpPr txBox="1"/>
          <p:nvPr/>
        </p:nvSpPr>
        <p:spPr>
          <a:xfrm>
            <a:off x="3520440" y="2057400"/>
            <a:ext cx="2148840" cy="365760"/>
          </a:xfrm>
          <a:prstGeom prst="rect">
            <a:avLst/>
          </a:prstGeom>
          <a:noFill/>
          <a:ln/>
        </p:spPr>
        <p:txBody>
          <a:bodyPr wrap="square" lIns="0" tIns="0" rIns="0" bIns="0" rtlCol="0" anchor="t"/>
          <a:lstStyle/>
          <a:p>
            <a:pPr algn="ctr" indent="0" marL="0">
              <a:buNone/>
            </a:pPr>
            <a:r>
              <a:rPr lang="en-US" sz="1700" b="1" dirty="0">
                <a:solidFill>
                  <a:schemeClr val="tx2"/>
                </a:solidFill>
                <a:latin typeface="Calibri" pitchFamily="34" charset="0"/>
                <a:ea typeface="Calibri" pitchFamily="34" charset="-122"/>
                <a:cs typeface="Calibri" pitchFamily="34" charset="-120"/>
              </a:rPr>
              <a:t>otp_debug_mcp</a:t>
            </a:r>
            <a:endParaRPr lang="en-US" sz="1700" dirty="0"/>
          </a:p>
        </p:txBody>
      </p:sp>
      <p:sp>
        <p:nvSpPr>
          <p:cNvPr id="11" name="Text 7"/>
          <p:cNvSpPr txBox="1"/>
          <p:nvPr/>
        </p:nvSpPr>
        <p:spPr>
          <a:xfrm>
            <a:off x="3520440" y="2395728"/>
            <a:ext cx="2148840" cy="320040"/>
          </a:xfrm>
          <a:prstGeom prst="rect">
            <a:avLst/>
          </a:prstGeom>
          <a:noFill/>
          <a:ln/>
        </p:spPr>
        <p:txBody>
          <a:bodyPr wrap="square" lIns="0" tIns="0" rIns="0" bIns="0" rtlCol="0" anchor="t"/>
          <a:lstStyle/>
          <a:p>
            <a:pPr algn="ctr" indent="0" marL="0">
              <a:buNone/>
            </a:pPr>
            <a:r>
              <a:rPr lang="en-US" sz="1300" dirty="0">
                <a:solidFill>
                  <a:schemeClr val="accent5"/>
                </a:solidFill>
                <a:latin typeface="Calibri" pitchFamily="34" charset="0"/>
                <a:ea typeface="Calibri" pitchFamily="34" charset="-122"/>
                <a:cs typeface="Calibri" pitchFamily="34" charset="-120"/>
              </a:rPr>
              <a:t>MCP server, over stdio</a:t>
            </a:r>
            <a:endParaRPr lang="en-US" sz="1300" dirty="0"/>
          </a:p>
        </p:txBody>
      </p:sp>
      <p:sp>
        <p:nvSpPr>
          <p:cNvPr id="12" name="Flow arrow 2"/>
          <p:cNvSpPr/>
          <p:nvPr/>
        </p:nvSpPr>
        <p:spPr>
          <a:xfrm>
            <a:off x="5760720" y="1417320"/>
            <a:ext cx="548640" cy="320040"/>
          </a:xfrm>
          <a:prstGeom prst="rightArrow">
            <a:avLst/>
          </a:prstGeom>
          <a:solidFill>
            <a:schemeClr val="accent6"/>
          </a:solidFill>
          <a:ln w="12700">
            <a:solidFill>
              <a:schemeClr val="accent6"/>
            </a:solidFill>
            <a:prstDash val="solid"/>
          </a:ln>
        </p:spPr>
      </p:sp>
      <p:sp>
        <p:nvSpPr>
          <p:cNvPr id="13" name="Your node circle"/>
          <p:cNvSpPr/>
          <p:nvPr/>
        </p:nvSpPr>
        <p:spPr>
          <a:xfrm>
            <a:off x="7086600" y="1188720"/>
            <a:ext cx="777240" cy="777240"/>
          </a:xfrm>
          <a:prstGeom prst="ellipse">
            <a:avLst/>
          </a:prstGeom>
          <a:solidFill>
            <a:schemeClr val="accent1"/>
          </a:solidFill>
          <a:ln w="12700">
            <a:solidFill>
              <a:schemeClr val="accent1"/>
            </a:solidFill>
            <a:prstDash val="solid"/>
          </a:ln>
        </p:spPr>
      </p:sp>
      <p:pic>
        <p:nvPicPr>
          <p:cNvPr id="14" name="Your node icon" descr="Your node">    </p:cNvPr>
          <p:cNvPicPr>
            <a:picLocks noChangeAspect="1"/>
          </p:cNvPicPr>
          <p:nvPr/>
        </p:nvPicPr>
        <p:blipFill>
          <a:blip r:embed="rId3"/>
          <a:stretch>
            <a:fillRect/>
          </a:stretch>
        </p:blipFill>
        <p:spPr>
          <a:xfrm>
            <a:off x="7273138" y="1375258"/>
            <a:ext cx="404165" cy="404165"/>
          </a:xfrm>
          <a:prstGeom prst="rect">
            <a:avLst/>
          </a:prstGeom>
        </p:spPr>
      </p:pic>
      <p:sp>
        <p:nvSpPr>
          <p:cNvPr id="15" name="Text 10"/>
          <p:cNvSpPr txBox="1"/>
          <p:nvPr/>
        </p:nvSpPr>
        <p:spPr>
          <a:xfrm>
            <a:off x="6400800" y="2057400"/>
            <a:ext cx="2148840" cy="365760"/>
          </a:xfrm>
          <a:prstGeom prst="rect">
            <a:avLst/>
          </a:prstGeom>
          <a:noFill/>
          <a:ln/>
        </p:spPr>
        <p:txBody>
          <a:bodyPr wrap="square" lIns="0" tIns="0" rIns="0" bIns="0" rtlCol="0" anchor="t"/>
          <a:lstStyle/>
          <a:p>
            <a:pPr algn="ctr" indent="0" marL="0">
              <a:buNone/>
            </a:pPr>
            <a:r>
              <a:rPr lang="en-US" sz="1700" b="1" dirty="0">
                <a:solidFill>
                  <a:schemeClr val="tx2"/>
                </a:solidFill>
                <a:latin typeface="Calibri" pitchFamily="34" charset="0"/>
                <a:ea typeface="Calibri" pitchFamily="34" charset="-122"/>
                <a:cs typeface="Calibri" pitchFamily="34" charset="-120"/>
              </a:rPr>
              <a:t>Your node</a:t>
            </a:r>
            <a:endParaRPr lang="en-US" sz="1700" dirty="0"/>
          </a:p>
        </p:txBody>
      </p:sp>
      <p:sp>
        <p:nvSpPr>
          <p:cNvPr id="16" name="Text 11"/>
          <p:cNvSpPr txBox="1"/>
          <p:nvPr/>
        </p:nvSpPr>
        <p:spPr>
          <a:xfrm>
            <a:off x="6400800" y="2395728"/>
            <a:ext cx="2148840" cy="320040"/>
          </a:xfrm>
          <a:prstGeom prst="rect">
            <a:avLst/>
          </a:prstGeom>
          <a:noFill/>
          <a:ln/>
        </p:spPr>
        <p:txBody>
          <a:bodyPr wrap="square" lIns="0" tIns="0" rIns="0" bIns="0" rtlCol="0" anchor="t"/>
          <a:lstStyle/>
          <a:p>
            <a:pPr algn="ctr" indent="0" marL="0">
              <a:buNone/>
            </a:pPr>
            <a:r>
              <a:rPr lang="en-US" sz="1300" dirty="0">
                <a:solidFill>
                  <a:schemeClr val="accent5"/>
                </a:solidFill>
                <a:latin typeface="Calibri" pitchFamily="34" charset="0"/>
                <a:ea typeface="Calibri" pitchFamily="34" charset="-122"/>
                <a:cs typeface="Calibri" pitchFamily="34" charset="-120"/>
              </a:rPr>
              <a:t>joined as a hidden node</a:t>
            </a:r>
            <a:endParaRPr lang="en-US" sz="1300" dirty="0"/>
          </a:p>
        </p:txBody>
      </p:sp>
      <p:sp>
        <p:nvSpPr>
          <p:cNvPr id="17" name="No changes to the target card"/>
          <p:cNvSpPr/>
          <p:nvPr/>
        </p:nvSpPr>
        <p:spPr>
          <a:xfrm>
            <a:off x="457200" y="3017520"/>
            <a:ext cx="2651760" cy="1463040"/>
          </a:xfrm>
          <a:prstGeom prst="roundRect">
            <a:avLst>
              <a:gd name="adj" fmla="val 5000"/>
            </a:avLst>
          </a:prstGeom>
          <a:solidFill>
            <a:schemeClr val="bg2"/>
          </a:solidFill>
          <a:ln w="12700">
            <a:solidFill>
              <a:schemeClr val="bg2"/>
            </a:solidFill>
            <a:prstDash val="solid"/>
          </a:ln>
          <a:effectLst>
            <a:outerShdw sx="100000" sy="100000" kx="0" ky="0" algn="bl" rotWithShape="0" blurRad="76200" dist="25400" dir="5400000">
              <a:srgbClr val="3A1D4A">
                <a:alpha val="12000"/>
              </a:srgbClr>
            </a:outerShdw>
          </a:effectLst>
        </p:spPr>
      </p:sp>
      <p:sp>
        <p:nvSpPr>
          <p:cNvPr id="18" name="Text 13"/>
          <p:cNvSpPr txBox="1"/>
          <p:nvPr/>
        </p:nvSpPr>
        <p:spPr>
          <a:xfrm>
            <a:off x="640080" y="3154680"/>
            <a:ext cx="2286000" cy="365760"/>
          </a:xfrm>
          <a:prstGeom prst="rect">
            <a:avLst/>
          </a:prstGeom>
          <a:noFill/>
          <a:ln/>
        </p:spPr>
        <p:txBody>
          <a:bodyPr wrap="square" lIns="0" tIns="0" rIns="0" bIns="0" rtlCol="0" anchor="t"/>
          <a:lstStyle/>
          <a:p>
            <a:pPr indent="0" marL="0">
              <a:buNone/>
            </a:pPr>
            <a:r>
              <a:rPr lang="en-US" sz="1600" b="1" dirty="0">
                <a:solidFill>
                  <a:schemeClr val="accent1"/>
                </a:solidFill>
                <a:latin typeface="Calibri" pitchFamily="34" charset="0"/>
                <a:ea typeface="Calibri" pitchFamily="34" charset="-122"/>
                <a:cs typeface="Calibri" pitchFamily="34" charset="-120"/>
              </a:rPr>
              <a:t>No changes to the target</a:t>
            </a:r>
            <a:endParaRPr lang="en-US" sz="1600" dirty="0"/>
          </a:p>
        </p:txBody>
      </p:sp>
      <p:sp>
        <p:nvSpPr>
          <p:cNvPr id="19" name="Text 14"/>
          <p:cNvSpPr txBox="1"/>
          <p:nvPr/>
        </p:nvSpPr>
        <p:spPr>
          <a:xfrm>
            <a:off x="640080" y="3547872"/>
            <a:ext cx="2286000" cy="86868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no dependency, no redeploy: recon is injected when missing</a:t>
            </a:r>
            <a:endParaRPr lang="en-US" sz="1400" dirty="0"/>
          </a:p>
        </p:txBody>
      </p:sp>
      <p:sp>
        <p:nvSpPr>
          <p:cNvPr id="20" name="diagnose first card"/>
          <p:cNvSpPr/>
          <p:nvPr/>
        </p:nvSpPr>
        <p:spPr>
          <a:xfrm>
            <a:off x="3246120" y="3017520"/>
            <a:ext cx="2651760" cy="1463040"/>
          </a:xfrm>
          <a:prstGeom prst="roundRect">
            <a:avLst>
              <a:gd name="adj" fmla="val 5000"/>
            </a:avLst>
          </a:prstGeom>
          <a:solidFill>
            <a:schemeClr val="bg2"/>
          </a:solidFill>
          <a:ln w="12700">
            <a:solidFill>
              <a:schemeClr val="bg2"/>
            </a:solidFill>
            <a:prstDash val="solid"/>
          </a:ln>
          <a:effectLst>
            <a:outerShdw sx="100000" sy="100000" kx="0" ky="0" algn="bl" rotWithShape="0" blurRad="76200" dist="25400" dir="5400000">
              <a:srgbClr val="3A1D4A">
                <a:alpha val="12000"/>
              </a:srgbClr>
            </a:outerShdw>
          </a:effectLst>
        </p:spPr>
      </p:sp>
      <p:sp>
        <p:nvSpPr>
          <p:cNvPr id="21" name="Text 16"/>
          <p:cNvSpPr txBox="1"/>
          <p:nvPr/>
        </p:nvSpPr>
        <p:spPr>
          <a:xfrm>
            <a:off x="3429000" y="3154680"/>
            <a:ext cx="2286000" cy="365760"/>
          </a:xfrm>
          <a:prstGeom prst="rect">
            <a:avLst/>
          </a:prstGeom>
          <a:noFill/>
          <a:ln/>
        </p:spPr>
        <p:txBody>
          <a:bodyPr wrap="square" lIns="0" tIns="0" rIns="0" bIns="0" rtlCol="0" anchor="t"/>
          <a:lstStyle/>
          <a:p>
            <a:pPr indent="0" marL="0">
              <a:buNone/>
            </a:pPr>
            <a:r>
              <a:rPr lang="en-US" sz="1600" b="1" dirty="0">
                <a:solidFill>
                  <a:schemeClr val="accent1"/>
                </a:solidFill>
                <a:latin typeface="Calibri" pitchFamily="34" charset="0"/>
                <a:ea typeface="Calibri" pitchFamily="34" charset="-122"/>
                <a:cs typeface="Calibri" pitchFamily="34" charset="-120"/>
              </a:rPr>
              <a:t>diagnose first</a:t>
            </a:r>
            <a:endParaRPr lang="en-US" sz="1600" dirty="0"/>
          </a:p>
        </p:txBody>
      </p:sp>
      <p:sp>
        <p:nvSpPr>
          <p:cNvPr id="22" name="Text 17"/>
          <p:cNvSpPr txBox="1"/>
          <p:nvPr/>
        </p:nvSpPr>
        <p:spPr>
          <a:xfrm>
            <a:off x="3429000" y="3547872"/>
            <a:ext cx="2286000" cy="86868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a battery of checks, ranked findings with what they mean</a:t>
            </a:r>
            <a:endParaRPr lang="en-US" sz="1400" dirty="0"/>
          </a:p>
        </p:txBody>
      </p:sp>
      <p:sp>
        <p:nvSpPr>
          <p:cNvPr id="23" name="Safe on production card"/>
          <p:cNvSpPr/>
          <p:nvPr/>
        </p:nvSpPr>
        <p:spPr>
          <a:xfrm>
            <a:off x="6035040" y="3017520"/>
            <a:ext cx="2651760" cy="1463040"/>
          </a:xfrm>
          <a:prstGeom prst="roundRect">
            <a:avLst>
              <a:gd name="adj" fmla="val 5000"/>
            </a:avLst>
          </a:prstGeom>
          <a:solidFill>
            <a:schemeClr val="bg2"/>
          </a:solidFill>
          <a:ln w="12700">
            <a:solidFill>
              <a:schemeClr val="bg2"/>
            </a:solidFill>
            <a:prstDash val="solid"/>
          </a:ln>
          <a:effectLst>
            <a:outerShdw sx="100000" sy="100000" kx="0" ky="0" algn="bl" rotWithShape="0" blurRad="76200" dist="25400" dir="5400000">
              <a:srgbClr val="3A1D4A">
                <a:alpha val="12000"/>
              </a:srgbClr>
            </a:outerShdw>
          </a:effectLst>
        </p:spPr>
      </p:sp>
      <p:sp>
        <p:nvSpPr>
          <p:cNvPr id="24" name="Text 19"/>
          <p:cNvSpPr txBox="1"/>
          <p:nvPr/>
        </p:nvSpPr>
        <p:spPr>
          <a:xfrm>
            <a:off x="6217920" y="3154680"/>
            <a:ext cx="2286000" cy="365760"/>
          </a:xfrm>
          <a:prstGeom prst="rect">
            <a:avLst/>
          </a:prstGeom>
          <a:noFill/>
          <a:ln/>
        </p:spPr>
        <p:txBody>
          <a:bodyPr wrap="square" lIns="0" tIns="0" rIns="0" bIns="0" rtlCol="0" anchor="t"/>
          <a:lstStyle/>
          <a:p>
            <a:pPr indent="0" marL="0">
              <a:buNone/>
            </a:pPr>
            <a:r>
              <a:rPr lang="en-US" sz="1600" b="1" dirty="0">
                <a:solidFill>
                  <a:schemeClr val="accent1"/>
                </a:solidFill>
                <a:latin typeface="Calibri" pitchFamily="34" charset="0"/>
                <a:ea typeface="Calibri" pitchFamily="34" charset="-122"/>
                <a:cs typeface="Calibri" pitchFamily="34" charset="-120"/>
              </a:rPr>
              <a:t>Safe on production</a:t>
            </a:r>
            <a:endParaRPr lang="en-US" sz="1600" dirty="0"/>
          </a:p>
        </p:txBody>
      </p:sp>
      <p:sp>
        <p:nvSpPr>
          <p:cNvPr id="25" name="Text 20"/>
          <p:cNvSpPr txBox="1"/>
          <p:nvPr/>
        </p:nvSpPr>
        <p:spPr>
          <a:xfrm>
            <a:off x="6217920" y="3547872"/>
            <a:ext cx="2286000" cy="86868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capped traces in an isolated trace session</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Six examples, symptom only</a:t>
            </a:r>
            <a:endParaRPr lang="en-US" sz="3200" dirty="0"/>
          </a:p>
        </p:txBody>
      </p:sp>
      <p:sp>
        <p:nvSpPr>
          <p:cNvPr id="3" name="Text 1"/>
          <p:cNvSpPr txBox="1"/>
          <p:nvPr/>
        </p:nvSpPr>
        <p:spPr>
          <a:xfrm>
            <a:off x="457200" y="1097280"/>
            <a:ext cx="8229600" cy="68580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One node per example, running the book's code. A headless Claude Code session per node, given only the symptom and the otp-debug tools: no shell, no source.</a:t>
            </a:r>
            <a:endParaRPr lang="en-US" sz="1600" dirty="0"/>
          </a:p>
        </p:txBody>
      </p:sp>
      <p:sp>
        <p:nvSpPr>
          <p:cNvPr id="4" name="6 / 6 card"/>
          <p:cNvSpPr/>
          <p:nvPr/>
        </p:nvSpPr>
        <p:spPr>
          <a:xfrm>
            <a:off x="457200" y="2011680"/>
            <a:ext cx="2651760" cy="1828800"/>
          </a:xfrm>
          <a:prstGeom prst="roundRect">
            <a:avLst>
              <a:gd name="adj" fmla="val 4000"/>
            </a:avLst>
          </a:prstGeom>
          <a:solidFill>
            <a:schemeClr val="bg2"/>
          </a:solidFill>
          <a:ln w="12700">
            <a:solidFill>
              <a:schemeClr val="bg2"/>
            </a:solidFill>
            <a:prstDash val="solid"/>
          </a:ln>
          <a:effectLst>
            <a:outerShdw sx="100000" sy="100000" kx="0" ky="0" algn="bl" rotWithShape="0" blurRad="76200" dist="25400" dir="5400000">
              <a:srgbClr val="3A1D4A">
                <a:alpha val="12000"/>
              </a:srgbClr>
            </a:outerShdw>
          </a:effectLst>
        </p:spPr>
      </p:sp>
      <p:sp>
        <p:nvSpPr>
          <p:cNvPr id="5" name="Text 3"/>
          <p:cNvSpPr txBox="1"/>
          <p:nvPr/>
        </p:nvSpPr>
        <p:spPr>
          <a:xfrm>
            <a:off x="594360" y="2194560"/>
            <a:ext cx="2377440" cy="868680"/>
          </a:xfrm>
          <a:prstGeom prst="rect">
            <a:avLst/>
          </a:prstGeom>
          <a:noFill/>
          <a:ln/>
        </p:spPr>
        <p:txBody>
          <a:bodyPr wrap="square" lIns="0" tIns="0" rIns="0" bIns="0" rtlCol="0" anchor="ctr"/>
          <a:lstStyle/>
          <a:p>
            <a:pPr algn="ctr" indent="0" marL="0">
              <a:buNone/>
            </a:pPr>
            <a:r>
              <a:rPr lang="en-US" sz="3200" b="1" dirty="0">
                <a:solidFill>
                  <a:schemeClr val="accent1"/>
                </a:solidFill>
                <a:latin typeface="Cambria" pitchFamily="34" charset="0"/>
                <a:ea typeface="Cambria" pitchFamily="34" charset="-122"/>
                <a:cs typeface="Cambria" pitchFamily="34" charset="-120"/>
              </a:rPr>
              <a:t>6 / 6</a:t>
            </a:r>
            <a:endParaRPr lang="en-US" sz="3200" dirty="0"/>
          </a:p>
        </p:txBody>
      </p:sp>
      <p:sp>
        <p:nvSpPr>
          <p:cNvPr id="6" name="Text 4"/>
          <p:cNvSpPr txBox="1"/>
          <p:nvPr/>
        </p:nvSpPr>
        <p:spPr>
          <a:xfrm>
            <a:off x="594360" y="3108960"/>
            <a:ext cx="2377440" cy="548640"/>
          </a:xfrm>
          <a:prstGeom prst="rect">
            <a:avLst/>
          </a:prstGeom>
          <a:noFill/>
          <a:ln/>
        </p:spPr>
        <p:txBody>
          <a:bodyPr wrap="square" lIns="0" tIns="0" rIns="0" bIns="0" rtlCol="0" anchor="t"/>
          <a:lstStyle/>
          <a:p>
            <a:pPr algn="ctr" indent="0" marL="0">
              <a:buNone/>
            </a:pPr>
            <a:r>
              <a:rPr lang="en-US" sz="1400" dirty="0">
                <a:solidFill>
                  <a:schemeClr val="tx1"/>
                </a:solidFill>
                <a:latin typeface="Calibri" pitchFamily="34" charset="0"/>
                <a:ea typeface="Calibri" pitchFamily="34" charset="-122"/>
                <a:cs typeface="Calibri" pitchFamily="34" charset="-120"/>
              </a:rPr>
              <a:t>found the cause and the fix</a:t>
            </a:r>
            <a:endParaRPr lang="en-US" sz="1400" dirty="0"/>
          </a:p>
        </p:txBody>
      </p:sp>
      <p:sp>
        <p:nvSpPr>
          <p:cNvPr id="7" name="42–75 s card"/>
          <p:cNvSpPr/>
          <p:nvPr/>
        </p:nvSpPr>
        <p:spPr>
          <a:xfrm>
            <a:off x="3246120" y="2011680"/>
            <a:ext cx="2651760" cy="1828800"/>
          </a:xfrm>
          <a:prstGeom prst="roundRect">
            <a:avLst>
              <a:gd name="adj" fmla="val 4000"/>
            </a:avLst>
          </a:prstGeom>
          <a:solidFill>
            <a:schemeClr val="bg2"/>
          </a:solidFill>
          <a:ln w="12700">
            <a:solidFill>
              <a:schemeClr val="bg2"/>
            </a:solidFill>
            <a:prstDash val="solid"/>
          </a:ln>
          <a:effectLst>
            <a:outerShdw sx="100000" sy="100000" kx="0" ky="0" algn="bl" rotWithShape="0" blurRad="76200" dist="25400" dir="5400000">
              <a:srgbClr val="3A1D4A">
                <a:alpha val="12000"/>
              </a:srgbClr>
            </a:outerShdw>
          </a:effectLst>
        </p:spPr>
      </p:sp>
      <p:sp>
        <p:nvSpPr>
          <p:cNvPr id="8" name="Text 6"/>
          <p:cNvSpPr txBox="1"/>
          <p:nvPr/>
        </p:nvSpPr>
        <p:spPr>
          <a:xfrm>
            <a:off x="3383280" y="2194560"/>
            <a:ext cx="2377440" cy="868680"/>
          </a:xfrm>
          <a:prstGeom prst="rect">
            <a:avLst/>
          </a:prstGeom>
          <a:noFill/>
          <a:ln/>
        </p:spPr>
        <p:txBody>
          <a:bodyPr wrap="square" lIns="0" tIns="0" rIns="0" bIns="0" rtlCol="0" anchor="ctr"/>
          <a:lstStyle/>
          <a:p>
            <a:pPr algn="ctr" indent="0" marL="0">
              <a:buNone/>
            </a:pPr>
            <a:r>
              <a:rPr lang="en-US" sz="3200" b="1" dirty="0">
                <a:solidFill>
                  <a:schemeClr val="accent2"/>
                </a:solidFill>
                <a:latin typeface="Cambria" pitchFamily="34" charset="0"/>
                <a:ea typeface="Cambria" pitchFamily="34" charset="-122"/>
                <a:cs typeface="Cambria" pitchFamily="34" charset="-120"/>
              </a:rPr>
              <a:t>42–75 s</a:t>
            </a:r>
            <a:endParaRPr lang="en-US" sz="3200" dirty="0"/>
          </a:p>
        </p:txBody>
      </p:sp>
      <p:sp>
        <p:nvSpPr>
          <p:cNvPr id="9" name="Text 7"/>
          <p:cNvSpPr txBox="1"/>
          <p:nvPr/>
        </p:nvSpPr>
        <p:spPr>
          <a:xfrm>
            <a:off x="3383280" y="3108960"/>
            <a:ext cx="2377440" cy="548640"/>
          </a:xfrm>
          <a:prstGeom prst="rect">
            <a:avLst/>
          </a:prstGeom>
          <a:noFill/>
          <a:ln/>
        </p:spPr>
        <p:txBody>
          <a:bodyPr wrap="square" lIns="0" tIns="0" rIns="0" bIns="0" rtlCol="0" anchor="t"/>
          <a:lstStyle/>
          <a:p>
            <a:pPr algn="ctr" indent="0" marL="0">
              <a:buNone/>
            </a:pPr>
            <a:r>
              <a:rPr lang="en-US" sz="1400" dirty="0">
                <a:solidFill>
                  <a:schemeClr val="tx1"/>
                </a:solidFill>
                <a:latin typeface="Calibri" pitchFamily="34" charset="0"/>
                <a:ea typeface="Calibri" pitchFamily="34" charset="-122"/>
                <a:cs typeface="Calibri" pitchFamily="34" charset="-120"/>
              </a:rPr>
              <a:t>per session</a:t>
            </a:r>
            <a:endParaRPr lang="en-US" sz="1400" dirty="0"/>
          </a:p>
        </p:txBody>
      </p:sp>
      <p:sp>
        <p:nvSpPr>
          <p:cNvPr id="10" name="$0.28–0.67 card"/>
          <p:cNvSpPr/>
          <p:nvPr/>
        </p:nvSpPr>
        <p:spPr>
          <a:xfrm>
            <a:off x="6035040" y="2011680"/>
            <a:ext cx="2651760" cy="1828800"/>
          </a:xfrm>
          <a:prstGeom prst="roundRect">
            <a:avLst>
              <a:gd name="adj" fmla="val 4000"/>
            </a:avLst>
          </a:prstGeom>
          <a:solidFill>
            <a:schemeClr val="bg2"/>
          </a:solidFill>
          <a:ln w="12700">
            <a:solidFill>
              <a:schemeClr val="bg2"/>
            </a:solidFill>
            <a:prstDash val="solid"/>
          </a:ln>
          <a:effectLst>
            <a:outerShdw sx="100000" sy="100000" kx="0" ky="0" algn="bl" rotWithShape="0" blurRad="76200" dist="25400" dir="5400000">
              <a:srgbClr val="3A1D4A">
                <a:alpha val="12000"/>
              </a:srgbClr>
            </a:outerShdw>
          </a:effectLst>
        </p:spPr>
      </p:sp>
      <p:sp>
        <p:nvSpPr>
          <p:cNvPr id="11" name="Text 9"/>
          <p:cNvSpPr txBox="1"/>
          <p:nvPr/>
        </p:nvSpPr>
        <p:spPr>
          <a:xfrm>
            <a:off x="6172200" y="2194560"/>
            <a:ext cx="2377440" cy="868680"/>
          </a:xfrm>
          <a:prstGeom prst="rect">
            <a:avLst/>
          </a:prstGeom>
          <a:noFill/>
          <a:ln/>
        </p:spPr>
        <p:txBody>
          <a:bodyPr wrap="square" lIns="0" tIns="0" rIns="0" bIns="0" rtlCol="0" anchor="ctr"/>
          <a:lstStyle/>
          <a:p>
            <a:pPr algn="ctr" indent="0" marL="0">
              <a:buNone/>
            </a:pPr>
            <a:r>
              <a:rPr lang="en-US" sz="3200" b="1" dirty="0">
                <a:solidFill>
                  <a:schemeClr val="accent3"/>
                </a:solidFill>
                <a:latin typeface="Cambria" pitchFamily="34" charset="0"/>
                <a:ea typeface="Cambria" pitchFamily="34" charset="-122"/>
                <a:cs typeface="Cambria" pitchFamily="34" charset="-120"/>
              </a:rPr>
              <a:t>$0.28–0.67</a:t>
            </a:r>
            <a:endParaRPr lang="en-US" sz="3200" dirty="0"/>
          </a:p>
        </p:txBody>
      </p:sp>
      <p:sp>
        <p:nvSpPr>
          <p:cNvPr id="12" name="Text 10"/>
          <p:cNvSpPr txBox="1"/>
          <p:nvPr/>
        </p:nvSpPr>
        <p:spPr>
          <a:xfrm>
            <a:off x="6172200" y="3108960"/>
            <a:ext cx="2377440" cy="548640"/>
          </a:xfrm>
          <a:prstGeom prst="rect">
            <a:avLst/>
          </a:prstGeom>
          <a:noFill/>
          <a:ln/>
        </p:spPr>
        <p:txBody>
          <a:bodyPr wrap="square" lIns="0" tIns="0" rIns="0" bIns="0" rtlCol="0" anchor="t"/>
          <a:lstStyle/>
          <a:p>
            <a:pPr algn="ctr" indent="0" marL="0">
              <a:buNone/>
            </a:pPr>
            <a:r>
              <a:rPr lang="en-US" sz="1400" dirty="0">
                <a:solidFill>
                  <a:schemeClr val="tx1"/>
                </a:solidFill>
                <a:latin typeface="Calibri" pitchFamily="34" charset="0"/>
                <a:ea typeface="Calibri" pitchFamily="34" charset="-122"/>
                <a:cs typeface="Calibri" pitchFamily="34" charset="-120"/>
              </a:rPr>
              <a:t>per session</a:t>
            </a:r>
            <a:endParaRPr lang="en-US" sz="1400" dirty="0"/>
          </a:p>
        </p:txBody>
      </p:sp>
      <p:sp>
        <p:nvSpPr>
          <p:cNvPr id="13" name="Text 11"/>
          <p:cNvSpPr txBox="1"/>
          <p:nvPr/>
        </p:nvSpPr>
        <p:spPr>
          <a:xfrm>
            <a:off x="457200" y="4114800"/>
            <a:ext cx="8229600" cy="365760"/>
          </a:xfrm>
          <a:prstGeom prst="rect">
            <a:avLst/>
          </a:prstGeom>
          <a:noFill/>
          <a:ln/>
        </p:spPr>
        <p:txBody>
          <a:bodyPr wrap="square" lIns="0" tIns="0" rIns="0" bIns="0" rtlCol="0" anchor="t"/>
          <a:lstStyle/>
          <a:p>
            <a:pPr indent="0" marL="0">
              <a:buNone/>
            </a:pPr>
            <a:r>
              <a:rPr lang="en-US" sz="1400" i="1" dirty="0">
                <a:solidFill>
                  <a:schemeClr val="accent5"/>
                </a:solidFill>
                <a:latin typeface="Calibri" pitchFamily="34" charset="0"/>
                <a:ea typeface="Calibri" pitchFamily="34" charset="-122"/>
                <a:cs typeface="Calibri" pitchFamily="34" charset="-120"/>
              </a:rPr>
              <a:t>The code came from the running .beam files, through module_code.</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Six bugs, and what found them</a:t>
            </a:r>
            <a:endParaRPr lang="en-US" sz="3200" dirty="0"/>
          </a:p>
        </p:txBody>
      </p:sp>
      <p:sp>
        <p:nvSpPr>
          <p:cNvPr id="3" name="Two servers calling each other card"/>
          <p:cNvSpPr/>
          <p:nvPr/>
        </p:nvSpPr>
        <p:spPr>
          <a:xfrm>
            <a:off x="457200" y="1143000"/>
            <a:ext cx="2651760" cy="1645920"/>
          </a:xfrm>
          <a:prstGeom prst="roundRect">
            <a:avLst>
              <a:gd name="adj" fmla="val 4444"/>
            </a:avLst>
          </a:prstGeom>
          <a:solidFill>
            <a:schemeClr val="bg2"/>
          </a:solidFill>
          <a:ln w="12700">
            <a:solidFill>
              <a:schemeClr val="bg2"/>
            </a:solidFill>
            <a:prstDash val="solid"/>
          </a:ln>
          <a:effectLst>
            <a:outerShdw sx="100000" sy="100000" kx="0" ky="0" algn="bl" rotWithShape="0" blurRad="76200" dist="25400" dir="5400000">
              <a:srgbClr val="3A1D4A">
                <a:alpha val="12000"/>
              </a:srgbClr>
            </a:outerShdw>
          </a:effectLst>
        </p:spPr>
      </p:sp>
      <p:sp>
        <p:nvSpPr>
          <p:cNvPr id="4" name="Two servers calling each other circle"/>
          <p:cNvSpPr/>
          <p:nvPr/>
        </p:nvSpPr>
        <p:spPr>
          <a:xfrm>
            <a:off x="621792" y="1325880"/>
            <a:ext cx="457200" cy="457200"/>
          </a:xfrm>
          <a:prstGeom prst="ellipse">
            <a:avLst/>
          </a:prstGeom>
          <a:solidFill>
            <a:schemeClr val="accent1"/>
          </a:solidFill>
          <a:ln w="12700">
            <a:solidFill>
              <a:schemeClr val="accent1"/>
            </a:solidFill>
            <a:prstDash val="solid"/>
          </a:ln>
        </p:spPr>
      </p:sp>
      <p:pic>
        <p:nvPicPr>
          <p:cNvPr id="5" name="Two servers calling each other icon" descr="Two servers calling each other">    </p:cNvPr>
          <p:cNvPicPr>
            <a:picLocks noChangeAspect="1"/>
          </p:cNvPicPr>
          <p:nvPr/>
        </p:nvPicPr>
        <p:blipFill>
          <a:blip r:embed="rId1"/>
          <a:stretch>
            <a:fillRect/>
          </a:stretch>
        </p:blipFill>
        <p:spPr>
          <a:xfrm>
            <a:off x="731520" y="1435608"/>
            <a:ext cx="237744" cy="237744"/>
          </a:xfrm>
          <a:prstGeom prst="rect">
            <a:avLst/>
          </a:prstGeom>
        </p:spPr>
      </p:pic>
      <p:sp>
        <p:nvSpPr>
          <p:cNvPr id="6" name="Text 3"/>
          <p:cNvSpPr txBox="1"/>
          <p:nvPr/>
        </p:nvSpPr>
        <p:spPr>
          <a:xfrm>
            <a:off x="1188720" y="1389888"/>
            <a:ext cx="1737360" cy="320040"/>
          </a:xfrm>
          <a:prstGeom prst="rect">
            <a:avLst/>
          </a:prstGeom>
          <a:noFill/>
          <a:ln/>
        </p:spPr>
        <p:txBody>
          <a:bodyPr wrap="square" lIns="0" tIns="0" rIns="0" bIns="0" rtlCol="0" anchor="ctr"/>
          <a:lstStyle/>
          <a:p>
            <a:pPr indent="0" marL="0">
              <a:buNone/>
            </a:pPr>
            <a:r>
              <a:rPr lang="en-US" sz="1200" b="1" dirty="0">
                <a:solidFill>
                  <a:schemeClr val="accent1"/>
                </a:solidFill>
                <a:latin typeface="Calibri" pitchFamily="34" charset="0"/>
                <a:ea typeface="Calibri" pitchFamily="34" charset="-122"/>
                <a:cs typeface="Calibri" pitchFamily="34" charset="-120"/>
              </a:rPr>
              <a:t>Erlang 5.4.6</a:t>
            </a:r>
            <a:endParaRPr lang="en-US" sz="1200" dirty="0"/>
          </a:p>
        </p:txBody>
      </p:sp>
      <p:sp>
        <p:nvSpPr>
          <p:cNvPr id="7" name="Text 4"/>
          <p:cNvSpPr txBox="1"/>
          <p:nvPr/>
        </p:nvSpPr>
        <p:spPr>
          <a:xfrm>
            <a:off x="621792" y="1856232"/>
            <a:ext cx="2377440" cy="457200"/>
          </a:xfrm>
          <a:prstGeom prst="rect">
            <a:avLst/>
          </a:prstGeom>
          <a:noFill/>
          <a:ln/>
        </p:spPr>
        <p:txBody>
          <a:bodyPr wrap="square" lIns="0" tIns="0" rIns="0" bIns="0" rtlCol="0" anchor="t"/>
          <a:lstStyle/>
          <a:p>
            <a:pPr indent="0" marL="0">
              <a:buNone/>
            </a:pPr>
            <a:r>
              <a:rPr lang="en-US" sz="1400" b="1" dirty="0">
                <a:solidFill>
                  <a:schemeClr val="tx2"/>
                </a:solidFill>
                <a:latin typeface="Calibri" pitchFamily="34" charset="0"/>
                <a:ea typeface="Calibri" pitchFamily="34" charset="-122"/>
                <a:cs typeface="Calibri" pitchFamily="34" charset="-120"/>
              </a:rPr>
              <a:t>Two servers calling each other</a:t>
            </a:r>
            <a:endParaRPr lang="en-US" sz="1400" dirty="0"/>
          </a:p>
        </p:txBody>
      </p:sp>
      <p:sp>
        <p:nvSpPr>
          <p:cNvPr id="8" name="Text 5"/>
          <p:cNvSpPr txBox="1"/>
          <p:nvPr/>
        </p:nvSpPr>
        <p:spPr>
          <a:xfrm>
            <a:off x="621792" y="2286000"/>
            <a:ext cx="2377440" cy="45720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recent_errors: both crashes, in the same millisecond</a:t>
            </a:r>
            <a:endParaRPr lang="en-US" sz="1200" dirty="0"/>
          </a:p>
        </p:txBody>
      </p:sp>
      <p:sp>
        <p:nvSpPr>
          <p:cNvPr id="9" name="A small slice of a huge binary card"/>
          <p:cNvSpPr/>
          <p:nvPr/>
        </p:nvSpPr>
        <p:spPr>
          <a:xfrm>
            <a:off x="3246120" y="1143000"/>
            <a:ext cx="2651760" cy="1645920"/>
          </a:xfrm>
          <a:prstGeom prst="roundRect">
            <a:avLst>
              <a:gd name="adj" fmla="val 4444"/>
            </a:avLst>
          </a:prstGeom>
          <a:solidFill>
            <a:schemeClr val="bg2"/>
          </a:solidFill>
          <a:ln w="12700">
            <a:solidFill>
              <a:schemeClr val="bg2"/>
            </a:solidFill>
            <a:prstDash val="solid"/>
          </a:ln>
          <a:effectLst>
            <a:outerShdw sx="100000" sy="100000" kx="0" ky="0" algn="bl" rotWithShape="0" blurRad="76200" dist="25400" dir="5400000">
              <a:srgbClr val="3A1D4A">
                <a:alpha val="12000"/>
              </a:srgbClr>
            </a:outerShdw>
          </a:effectLst>
        </p:spPr>
      </p:sp>
      <p:sp>
        <p:nvSpPr>
          <p:cNvPr id="10" name="A small slice of a huge binary circle"/>
          <p:cNvSpPr/>
          <p:nvPr/>
        </p:nvSpPr>
        <p:spPr>
          <a:xfrm>
            <a:off x="3410712" y="1325880"/>
            <a:ext cx="457200" cy="457200"/>
          </a:xfrm>
          <a:prstGeom prst="ellipse">
            <a:avLst/>
          </a:prstGeom>
          <a:solidFill>
            <a:schemeClr val="accent1"/>
          </a:solidFill>
          <a:ln w="12700">
            <a:solidFill>
              <a:schemeClr val="accent1"/>
            </a:solidFill>
            <a:prstDash val="solid"/>
          </a:ln>
        </p:spPr>
      </p:sp>
      <p:pic>
        <p:nvPicPr>
          <p:cNvPr id="11" name="A small slice of a huge binary icon" descr="A small slice of a huge binary">    </p:cNvPr>
          <p:cNvPicPr>
            <a:picLocks noChangeAspect="1"/>
          </p:cNvPicPr>
          <p:nvPr/>
        </p:nvPicPr>
        <p:blipFill>
          <a:blip r:embed="rId2"/>
          <a:stretch>
            <a:fillRect/>
          </a:stretch>
        </p:blipFill>
        <p:spPr>
          <a:xfrm>
            <a:off x="3520440" y="1435608"/>
            <a:ext cx="237744" cy="237744"/>
          </a:xfrm>
          <a:prstGeom prst="rect">
            <a:avLst/>
          </a:prstGeom>
        </p:spPr>
      </p:pic>
      <p:sp>
        <p:nvSpPr>
          <p:cNvPr id="12" name="Text 8"/>
          <p:cNvSpPr txBox="1"/>
          <p:nvPr/>
        </p:nvSpPr>
        <p:spPr>
          <a:xfrm>
            <a:off x="3977640" y="1389888"/>
            <a:ext cx="1737360" cy="320040"/>
          </a:xfrm>
          <a:prstGeom prst="rect">
            <a:avLst/>
          </a:prstGeom>
          <a:noFill/>
          <a:ln/>
        </p:spPr>
        <p:txBody>
          <a:bodyPr wrap="square" lIns="0" tIns="0" rIns="0" bIns="0" rtlCol="0" anchor="ctr"/>
          <a:lstStyle/>
          <a:p>
            <a:pPr indent="0" marL="0">
              <a:buNone/>
            </a:pPr>
            <a:r>
              <a:rPr lang="en-US" sz="1200" b="1" dirty="0">
                <a:solidFill>
                  <a:schemeClr val="accent1"/>
                </a:solidFill>
                <a:latin typeface="Calibri" pitchFamily="34" charset="0"/>
                <a:ea typeface="Calibri" pitchFamily="34" charset="-122"/>
                <a:cs typeface="Calibri" pitchFamily="34" charset="-120"/>
              </a:rPr>
              <a:t>Erlang 3.4.3</a:t>
            </a:r>
            <a:endParaRPr lang="en-US" sz="1200" dirty="0"/>
          </a:p>
        </p:txBody>
      </p:sp>
      <p:sp>
        <p:nvSpPr>
          <p:cNvPr id="13" name="Text 9"/>
          <p:cNvSpPr txBox="1"/>
          <p:nvPr/>
        </p:nvSpPr>
        <p:spPr>
          <a:xfrm>
            <a:off x="3410712" y="1856232"/>
            <a:ext cx="2377440" cy="457200"/>
          </a:xfrm>
          <a:prstGeom prst="rect">
            <a:avLst/>
          </a:prstGeom>
          <a:noFill/>
          <a:ln/>
        </p:spPr>
        <p:txBody>
          <a:bodyPr wrap="square" lIns="0" tIns="0" rIns="0" bIns="0" rtlCol="0" anchor="t"/>
          <a:lstStyle/>
          <a:p>
            <a:pPr indent="0" marL="0">
              <a:buNone/>
            </a:pPr>
            <a:r>
              <a:rPr lang="en-US" sz="1400" b="1" dirty="0">
                <a:solidFill>
                  <a:schemeClr val="tx2"/>
                </a:solidFill>
                <a:latin typeface="Calibri" pitchFamily="34" charset="0"/>
                <a:ea typeface="Calibri" pitchFamily="34" charset="-122"/>
                <a:cs typeface="Calibri" pitchFamily="34" charset="-120"/>
              </a:rPr>
              <a:t>A small slice of a huge binary</a:t>
            </a:r>
            <a:endParaRPr lang="en-US" sz="1400" dirty="0"/>
          </a:p>
        </p:txBody>
      </p:sp>
      <p:sp>
        <p:nvSpPr>
          <p:cNvPr id="14" name="Text 10"/>
          <p:cNvSpPr txBox="1"/>
          <p:nvPr/>
        </p:nvSpPr>
        <p:spPr>
          <a:xfrm>
            <a:off x="3410712" y="2286000"/>
            <a:ext cx="2377440" cy="45720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binary_leak: 100 KB of headers pin 210 MB</a:t>
            </a:r>
            <a:endParaRPr lang="en-US" sz="1200" dirty="0"/>
          </a:p>
        </p:txBody>
      </p:sp>
      <p:sp>
        <p:nvSpPr>
          <p:cNvPr id="15" name="A receive loop with no catch-all card"/>
          <p:cNvSpPr/>
          <p:nvPr/>
        </p:nvSpPr>
        <p:spPr>
          <a:xfrm>
            <a:off x="6035040" y="1143000"/>
            <a:ext cx="2651760" cy="1645920"/>
          </a:xfrm>
          <a:prstGeom prst="roundRect">
            <a:avLst>
              <a:gd name="adj" fmla="val 4444"/>
            </a:avLst>
          </a:prstGeom>
          <a:solidFill>
            <a:schemeClr val="bg2"/>
          </a:solidFill>
          <a:ln w="12700">
            <a:solidFill>
              <a:schemeClr val="bg2"/>
            </a:solidFill>
            <a:prstDash val="solid"/>
          </a:ln>
          <a:effectLst>
            <a:outerShdw sx="100000" sy="100000" kx="0" ky="0" algn="bl" rotWithShape="0" blurRad="76200" dist="25400" dir="5400000">
              <a:srgbClr val="3A1D4A">
                <a:alpha val="12000"/>
              </a:srgbClr>
            </a:outerShdw>
          </a:effectLst>
        </p:spPr>
      </p:sp>
      <p:sp>
        <p:nvSpPr>
          <p:cNvPr id="16" name="A receive loop with no catch-all circle"/>
          <p:cNvSpPr/>
          <p:nvPr/>
        </p:nvSpPr>
        <p:spPr>
          <a:xfrm>
            <a:off x="6199632" y="1325880"/>
            <a:ext cx="457200" cy="457200"/>
          </a:xfrm>
          <a:prstGeom prst="ellipse">
            <a:avLst/>
          </a:prstGeom>
          <a:solidFill>
            <a:schemeClr val="accent1"/>
          </a:solidFill>
          <a:ln w="12700">
            <a:solidFill>
              <a:schemeClr val="accent1"/>
            </a:solidFill>
            <a:prstDash val="solid"/>
          </a:ln>
        </p:spPr>
      </p:sp>
      <p:pic>
        <p:nvPicPr>
          <p:cNvPr id="17" name="A receive loop with no catch-all icon" descr="A receive loop with no catch-all">    </p:cNvPr>
          <p:cNvPicPr>
            <a:picLocks noChangeAspect="1"/>
          </p:cNvPicPr>
          <p:nvPr/>
        </p:nvPicPr>
        <p:blipFill>
          <a:blip r:embed="rId3"/>
          <a:stretch>
            <a:fillRect/>
          </a:stretch>
        </p:blipFill>
        <p:spPr>
          <a:xfrm>
            <a:off x="6309360" y="1435608"/>
            <a:ext cx="237744" cy="237744"/>
          </a:xfrm>
          <a:prstGeom prst="rect">
            <a:avLst/>
          </a:prstGeom>
        </p:spPr>
      </p:pic>
      <p:sp>
        <p:nvSpPr>
          <p:cNvPr id="18" name="Text 13"/>
          <p:cNvSpPr txBox="1"/>
          <p:nvPr/>
        </p:nvSpPr>
        <p:spPr>
          <a:xfrm>
            <a:off x="6766560" y="1389888"/>
            <a:ext cx="1737360" cy="320040"/>
          </a:xfrm>
          <a:prstGeom prst="rect">
            <a:avLst/>
          </a:prstGeom>
          <a:noFill/>
          <a:ln/>
        </p:spPr>
        <p:txBody>
          <a:bodyPr wrap="square" lIns="0" tIns="0" rIns="0" bIns="0" rtlCol="0" anchor="ctr"/>
          <a:lstStyle/>
          <a:p>
            <a:pPr indent="0" marL="0">
              <a:buNone/>
            </a:pPr>
            <a:r>
              <a:rPr lang="en-US" sz="1200" b="1" dirty="0">
                <a:solidFill>
                  <a:schemeClr val="accent1"/>
                </a:solidFill>
                <a:latin typeface="Calibri" pitchFamily="34" charset="0"/>
                <a:ea typeface="Calibri" pitchFamily="34" charset="-122"/>
                <a:cs typeface="Calibri" pitchFamily="34" charset="-120"/>
              </a:rPr>
              <a:t>Erlang 2.4.1</a:t>
            </a:r>
            <a:endParaRPr lang="en-US" sz="1200" dirty="0"/>
          </a:p>
        </p:txBody>
      </p:sp>
      <p:sp>
        <p:nvSpPr>
          <p:cNvPr id="19" name="Text 14"/>
          <p:cNvSpPr txBox="1"/>
          <p:nvPr/>
        </p:nvSpPr>
        <p:spPr>
          <a:xfrm>
            <a:off x="6199632" y="1856232"/>
            <a:ext cx="2377440" cy="457200"/>
          </a:xfrm>
          <a:prstGeom prst="rect">
            <a:avLst/>
          </a:prstGeom>
          <a:noFill/>
          <a:ln/>
        </p:spPr>
        <p:txBody>
          <a:bodyPr wrap="square" lIns="0" tIns="0" rIns="0" bIns="0" rtlCol="0" anchor="t"/>
          <a:lstStyle/>
          <a:p>
            <a:pPr indent="0" marL="0">
              <a:buNone/>
            </a:pPr>
            <a:r>
              <a:rPr lang="en-US" sz="1400" b="1" dirty="0">
                <a:solidFill>
                  <a:schemeClr val="tx2"/>
                </a:solidFill>
                <a:latin typeface="Calibri" pitchFamily="34" charset="0"/>
                <a:ea typeface="Calibri" pitchFamily="34" charset="-122"/>
                <a:cs typeface="Calibri" pitchFamily="34" charset="-120"/>
              </a:rPr>
              <a:t>A receive loop with no catch-all</a:t>
            </a:r>
            <a:endParaRPr lang="en-US" sz="1400" dirty="0"/>
          </a:p>
        </p:txBody>
      </p:sp>
      <p:sp>
        <p:nvSpPr>
          <p:cNvPr id="20" name="Text 15"/>
          <p:cNvSpPr txBox="1"/>
          <p:nvPr/>
        </p:nvSpPr>
        <p:spPr>
          <a:xfrm>
            <a:off x="6199632" y="2286000"/>
            <a:ext cx="2377440" cy="45720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message_queues, snapshot: +50 unmatched a second</a:t>
            </a:r>
            <a:endParaRPr lang="en-US" sz="1200" dirty="0"/>
          </a:p>
        </p:txBody>
      </p:sp>
      <p:sp>
        <p:nvSpPr>
          <p:cNvPr id="21" name="Permanent connection workers card"/>
          <p:cNvSpPr/>
          <p:nvPr/>
        </p:nvSpPr>
        <p:spPr>
          <a:xfrm>
            <a:off x="457200" y="2926080"/>
            <a:ext cx="2651760" cy="1645920"/>
          </a:xfrm>
          <a:prstGeom prst="roundRect">
            <a:avLst>
              <a:gd name="adj" fmla="val 4444"/>
            </a:avLst>
          </a:prstGeom>
          <a:solidFill>
            <a:schemeClr val="bg2"/>
          </a:solidFill>
          <a:ln w="12700">
            <a:solidFill>
              <a:schemeClr val="bg2"/>
            </a:solidFill>
            <a:prstDash val="solid"/>
          </a:ln>
          <a:effectLst>
            <a:outerShdw sx="100000" sy="100000" kx="0" ky="0" algn="bl" rotWithShape="0" blurRad="76200" dist="25400" dir="5400000">
              <a:srgbClr val="3A1D4A">
                <a:alpha val="12000"/>
              </a:srgbClr>
            </a:outerShdw>
          </a:effectLst>
        </p:spPr>
      </p:sp>
      <p:sp>
        <p:nvSpPr>
          <p:cNvPr id="22" name="Permanent connection workers circle"/>
          <p:cNvSpPr/>
          <p:nvPr/>
        </p:nvSpPr>
        <p:spPr>
          <a:xfrm>
            <a:off x="621792" y="3108960"/>
            <a:ext cx="457200" cy="457200"/>
          </a:xfrm>
          <a:prstGeom prst="ellipse">
            <a:avLst/>
          </a:prstGeom>
          <a:solidFill>
            <a:schemeClr val="accent1"/>
          </a:solidFill>
          <a:ln w="12700">
            <a:solidFill>
              <a:schemeClr val="accent1"/>
            </a:solidFill>
            <a:prstDash val="solid"/>
          </a:ln>
        </p:spPr>
      </p:sp>
      <p:pic>
        <p:nvPicPr>
          <p:cNvPr id="23" name="Permanent connection workers icon" descr="Permanent connection workers">    </p:cNvPr>
          <p:cNvPicPr>
            <a:picLocks noChangeAspect="1"/>
          </p:cNvPicPr>
          <p:nvPr/>
        </p:nvPicPr>
        <p:blipFill>
          <a:blip r:embed="rId4"/>
          <a:stretch>
            <a:fillRect/>
          </a:stretch>
        </p:blipFill>
        <p:spPr>
          <a:xfrm>
            <a:off x="731520" y="3218688"/>
            <a:ext cx="237744" cy="237744"/>
          </a:xfrm>
          <a:prstGeom prst="rect">
            <a:avLst/>
          </a:prstGeom>
        </p:spPr>
      </p:pic>
      <p:sp>
        <p:nvSpPr>
          <p:cNvPr id="24" name="Text 18"/>
          <p:cNvSpPr txBox="1"/>
          <p:nvPr/>
        </p:nvSpPr>
        <p:spPr>
          <a:xfrm>
            <a:off x="1188720" y="3172968"/>
            <a:ext cx="1737360" cy="320040"/>
          </a:xfrm>
          <a:prstGeom prst="rect">
            <a:avLst/>
          </a:prstGeom>
          <a:noFill/>
          <a:ln/>
        </p:spPr>
        <p:txBody>
          <a:bodyPr wrap="square" lIns="0" tIns="0" rIns="0" bIns="0" rtlCol="0" anchor="ctr"/>
          <a:lstStyle/>
          <a:p>
            <a:pPr indent="0" marL="0">
              <a:buNone/>
            </a:pPr>
            <a:r>
              <a:rPr lang="en-US" sz="1200" b="1" dirty="0">
                <a:solidFill>
                  <a:schemeClr val="accent1"/>
                </a:solidFill>
                <a:latin typeface="Calibri" pitchFamily="34" charset="0"/>
                <a:ea typeface="Calibri" pitchFamily="34" charset="-122"/>
                <a:cs typeface="Calibri" pitchFamily="34" charset="-120"/>
              </a:rPr>
              <a:t>Erlang 1.4.5</a:t>
            </a:r>
            <a:endParaRPr lang="en-US" sz="1200" dirty="0"/>
          </a:p>
        </p:txBody>
      </p:sp>
      <p:sp>
        <p:nvSpPr>
          <p:cNvPr id="25" name="Text 19"/>
          <p:cNvSpPr txBox="1"/>
          <p:nvPr/>
        </p:nvSpPr>
        <p:spPr>
          <a:xfrm>
            <a:off x="621792" y="3639312"/>
            <a:ext cx="2377440" cy="457200"/>
          </a:xfrm>
          <a:prstGeom prst="rect">
            <a:avLst/>
          </a:prstGeom>
          <a:noFill/>
          <a:ln/>
        </p:spPr>
        <p:txBody>
          <a:bodyPr wrap="square" lIns="0" tIns="0" rIns="0" bIns="0" rtlCol="0" anchor="t"/>
          <a:lstStyle/>
          <a:p>
            <a:pPr indent="0" marL="0">
              <a:buNone/>
            </a:pPr>
            <a:r>
              <a:rPr lang="en-US" sz="1400" b="1" dirty="0">
                <a:solidFill>
                  <a:schemeClr val="tx2"/>
                </a:solidFill>
                <a:latin typeface="Calibri" pitchFamily="34" charset="0"/>
                <a:ea typeface="Calibri" pitchFamily="34" charset="-122"/>
                <a:cs typeface="Calibri" pitchFamily="34" charset="-120"/>
              </a:rPr>
              <a:t>Permanent connection workers</a:t>
            </a:r>
            <a:endParaRPr lang="en-US" sz="1400" dirty="0"/>
          </a:p>
        </p:txBody>
      </p:sp>
      <p:sp>
        <p:nvSpPr>
          <p:cNvPr id="26" name="Text 20"/>
          <p:cNvSpPr txBox="1"/>
          <p:nvPr/>
        </p:nvSpPr>
        <p:spPr>
          <a:xfrm>
            <a:off x="621792" y="4069080"/>
            <a:ext cx="2377440" cy="45720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recent_errors: max restart intensity, 50 gone</a:t>
            </a:r>
            <a:endParaRPr lang="en-US" sz="1200" dirty="0"/>
          </a:p>
        </p:txBody>
      </p:sp>
      <p:sp>
        <p:nvSpPr>
          <p:cNvPr id="27" name="Parsing by catching exceptions card"/>
          <p:cNvSpPr/>
          <p:nvPr/>
        </p:nvSpPr>
        <p:spPr>
          <a:xfrm>
            <a:off x="3246120" y="2926080"/>
            <a:ext cx="2651760" cy="1645920"/>
          </a:xfrm>
          <a:prstGeom prst="roundRect">
            <a:avLst>
              <a:gd name="adj" fmla="val 4444"/>
            </a:avLst>
          </a:prstGeom>
          <a:solidFill>
            <a:schemeClr val="bg2"/>
          </a:solidFill>
          <a:ln w="12700">
            <a:solidFill>
              <a:schemeClr val="bg2"/>
            </a:solidFill>
            <a:prstDash val="solid"/>
          </a:ln>
          <a:effectLst>
            <a:outerShdw sx="100000" sy="100000" kx="0" ky="0" algn="bl" rotWithShape="0" blurRad="76200" dist="25400" dir="5400000">
              <a:srgbClr val="3A1D4A">
                <a:alpha val="12000"/>
              </a:srgbClr>
            </a:outerShdw>
          </a:effectLst>
        </p:spPr>
      </p:sp>
      <p:sp>
        <p:nvSpPr>
          <p:cNvPr id="28" name="Parsing by catching exceptions circle"/>
          <p:cNvSpPr/>
          <p:nvPr/>
        </p:nvSpPr>
        <p:spPr>
          <a:xfrm>
            <a:off x="3410712" y="3108960"/>
            <a:ext cx="457200" cy="457200"/>
          </a:xfrm>
          <a:prstGeom prst="ellipse">
            <a:avLst/>
          </a:prstGeom>
          <a:solidFill>
            <a:schemeClr val="accent2"/>
          </a:solidFill>
          <a:ln w="12700">
            <a:solidFill>
              <a:schemeClr val="accent2"/>
            </a:solidFill>
            <a:prstDash val="solid"/>
          </a:ln>
        </p:spPr>
      </p:sp>
      <p:pic>
        <p:nvPicPr>
          <p:cNvPr id="29" name="Parsing by catching exceptions icon" descr="Parsing by catching exceptions">    </p:cNvPr>
          <p:cNvPicPr>
            <a:picLocks noChangeAspect="1"/>
          </p:cNvPicPr>
          <p:nvPr/>
        </p:nvPicPr>
        <p:blipFill>
          <a:blip r:embed="rId5"/>
          <a:stretch>
            <a:fillRect/>
          </a:stretch>
        </p:blipFill>
        <p:spPr>
          <a:xfrm>
            <a:off x="3520440" y="3218688"/>
            <a:ext cx="237744" cy="237744"/>
          </a:xfrm>
          <a:prstGeom prst="rect">
            <a:avLst/>
          </a:prstGeom>
        </p:spPr>
      </p:pic>
      <p:sp>
        <p:nvSpPr>
          <p:cNvPr id="30" name="Text 23"/>
          <p:cNvSpPr txBox="1"/>
          <p:nvPr/>
        </p:nvSpPr>
        <p:spPr>
          <a:xfrm>
            <a:off x="3977640" y="3172968"/>
            <a:ext cx="1737360" cy="320040"/>
          </a:xfrm>
          <a:prstGeom prst="rect">
            <a:avLst/>
          </a:prstGeom>
          <a:noFill/>
          <a:ln/>
        </p:spPr>
        <p:txBody>
          <a:bodyPr wrap="square" lIns="0" tIns="0" rIns="0" bIns="0" rtlCol="0" anchor="ctr"/>
          <a:lstStyle/>
          <a:p>
            <a:pPr indent="0" marL="0">
              <a:buNone/>
            </a:pPr>
            <a:r>
              <a:rPr lang="en-US" sz="1200" b="1" dirty="0">
                <a:solidFill>
                  <a:schemeClr val="accent2"/>
                </a:solidFill>
                <a:latin typeface="Calibri" pitchFamily="34" charset="0"/>
                <a:ea typeface="Calibri" pitchFamily="34" charset="-122"/>
                <a:cs typeface="Calibri" pitchFamily="34" charset="-120"/>
              </a:rPr>
              <a:t>Elixir 2.4.1</a:t>
            </a:r>
            <a:endParaRPr lang="en-US" sz="1200" dirty="0"/>
          </a:p>
        </p:txBody>
      </p:sp>
      <p:sp>
        <p:nvSpPr>
          <p:cNvPr id="31" name="Text 24"/>
          <p:cNvSpPr txBox="1"/>
          <p:nvPr/>
        </p:nvSpPr>
        <p:spPr>
          <a:xfrm>
            <a:off x="3410712" y="3639312"/>
            <a:ext cx="2377440" cy="457200"/>
          </a:xfrm>
          <a:prstGeom prst="rect">
            <a:avLst/>
          </a:prstGeom>
          <a:noFill/>
          <a:ln/>
        </p:spPr>
        <p:txBody>
          <a:bodyPr wrap="square" lIns="0" tIns="0" rIns="0" bIns="0" rtlCol="0" anchor="t"/>
          <a:lstStyle/>
          <a:p>
            <a:pPr indent="0" marL="0">
              <a:buNone/>
            </a:pPr>
            <a:r>
              <a:rPr lang="en-US" sz="1400" b="1" dirty="0">
                <a:solidFill>
                  <a:schemeClr val="tx2"/>
                </a:solidFill>
                <a:latin typeface="Calibri" pitchFamily="34" charset="0"/>
                <a:ea typeface="Calibri" pitchFamily="34" charset="-122"/>
                <a:cs typeface="Calibri" pitchFamily="34" charset="-120"/>
              </a:rPr>
              <a:t>Parsing by catching exceptions</a:t>
            </a:r>
            <a:endParaRPr lang="en-US" sz="1400" dirty="0"/>
          </a:p>
        </p:txBody>
      </p:sp>
      <p:sp>
        <p:nvSpPr>
          <p:cNvPr id="32" name="Text 25"/>
          <p:cNvSpPr txBox="1"/>
          <p:nvPr/>
        </p:nvSpPr>
        <p:spPr>
          <a:xfrm>
            <a:off x="3410712" y="4069080"/>
            <a:ext cx="2377440" cy="45720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trace_calls exceptions: every bad input</a:t>
            </a:r>
            <a:endParaRPr lang="en-US" sz="1200" dirty="0"/>
          </a:p>
        </p:txBody>
      </p:sp>
      <p:sp>
        <p:nvSpPr>
          <p:cNvPr id="33" name="A handler that disappears card"/>
          <p:cNvSpPr/>
          <p:nvPr/>
        </p:nvSpPr>
        <p:spPr>
          <a:xfrm>
            <a:off x="6035040" y="2926080"/>
            <a:ext cx="2651760" cy="1645920"/>
          </a:xfrm>
          <a:prstGeom prst="roundRect">
            <a:avLst>
              <a:gd name="adj" fmla="val 4444"/>
            </a:avLst>
          </a:prstGeom>
          <a:solidFill>
            <a:schemeClr val="bg2"/>
          </a:solidFill>
          <a:ln w="12700">
            <a:solidFill>
              <a:schemeClr val="bg2"/>
            </a:solidFill>
            <a:prstDash val="solid"/>
          </a:ln>
          <a:effectLst>
            <a:outerShdw sx="100000" sy="100000" kx="0" ky="0" algn="bl" rotWithShape="0" blurRad="76200" dist="25400" dir="5400000">
              <a:srgbClr val="3A1D4A">
                <a:alpha val="12000"/>
              </a:srgbClr>
            </a:outerShdw>
          </a:effectLst>
        </p:spPr>
      </p:sp>
      <p:sp>
        <p:nvSpPr>
          <p:cNvPr id="34" name="A handler that disappears circle"/>
          <p:cNvSpPr/>
          <p:nvPr/>
        </p:nvSpPr>
        <p:spPr>
          <a:xfrm>
            <a:off x="6199632" y="3108960"/>
            <a:ext cx="457200" cy="457200"/>
          </a:xfrm>
          <a:prstGeom prst="ellipse">
            <a:avLst/>
          </a:prstGeom>
          <a:solidFill>
            <a:schemeClr val="accent2"/>
          </a:solidFill>
          <a:ln w="12700">
            <a:solidFill>
              <a:schemeClr val="accent2"/>
            </a:solidFill>
            <a:prstDash val="solid"/>
          </a:ln>
        </p:spPr>
      </p:sp>
      <p:pic>
        <p:nvPicPr>
          <p:cNvPr id="35" name="A handler that disappears icon" descr="A handler that disappears">    </p:cNvPr>
          <p:cNvPicPr>
            <a:picLocks noChangeAspect="1"/>
          </p:cNvPicPr>
          <p:nvPr/>
        </p:nvPicPr>
        <p:blipFill>
          <a:blip r:embed="rId6"/>
          <a:stretch>
            <a:fillRect/>
          </a:stretch>
        </p:blipFill>
        <p:spPr>
          <a:xfrm>
            <a:off x="6309360" y="3218688"/>
            <a:ext cx="237744" cy="237744"/>
          </a:xfrm>
          <a:prstGeom prst="rect">
            <a:avLst/>
          </a:prstGeom>
        </p:spPr>
      </p:pic>
      <p:sp>
        <p:nvSpPr>
          <p:cNvPr id="36" name="Text 28"/>
          <p:cNvSpPr txBox="1"/>
          <p:nvPr/>
        </p:nvSpPr>
        <p:spPr>
          <a:xfrm>
            <a:off x="6766560" y="3172968"/>
            <a:ext cx="1737360" cy="320040"/>
          </a:xfrm>
          <a:prstGeom prst="rect">
            <a:avLst/>
          </a:prstGeom>
          <a:noFill/>
          <a:ln/>
        </p:spPr>
        <p:txBody>
          <a:bodyPr wrap="square" lIns="0" tIns="0" rIns="0" bIns="0" rtlCol="0" anchor="ctr"/>
          <a:lstStyle/>
          <a:p>
            <a:pPr indent="0" marL="0">
              <a:buNone/>
            </a:pPr>
            <a:r>
              <a:rPr lang="en-US" sz="1200" b="1" dirty="0">
                <a:solidFill>
                  <a:schemeClr val="accent2"/>
                </a:solidFill>
                <a:latin typeface="Calibri" pitchFamily="34" charset="0"/>
                <a:ea typeface="Calibri" pitchFamily="34" charset="-122"/>
                <a:cs typeface="Calibri" pitchFamily="34" charset="-120"/>
              </a:rPr>
              <a:t>Elixir 13.4.4</a:t>
            </a:r>
            <a:endParaRPr lang="en-US" sz="1200" dirty="0"/>
          </a:p>
        </p:txBody>
      </p:sp>
      <p:sp>
        <p:nvSpPr>
          <p:cNvPr id="37" name="Text 29"/>
          <p:cNvSpPr txBox="1"/>
          <p:nvPr/>
        </p:nvSpPr>
        <p:spPr>
          <a:xfrm>
            <a:off x="6199632" y="3639312"/>
            <a:ext cx="2377440" cy="457200"/>
          </a:xfrm>
          <a:prstGeom prst="rect">
            <a:avLst/>
          </a:prstGeom>
          <a:noFill/>
          <a:ln/>
        </p:spPr>
        <p:txBody>
          <a:bodyPr wrap="square" lIns="0" tIns="0" rIns="0" bIns="0" rtlCol="0" anchor="t"/>
          <a:lstStyle/>
          <a:p>
            <a:pPr indent="0" marL="0">
              <a:buNone/>
            </a:pPr>
            <a:r>
              <a:rPr lang="en-US" sz="1400" b="1" dirty="0">
                <a:solidFill>
                  <a:schemeClr val="tx2"/>
                </a:solidFill>
                <a:latin typeface="Calibri" pitchFamily="34" charset="0"/>
                <a:ea typeface="Calibri" pitchFamily="34" charset="-122"/>
                <a:cs typeface="Calibri" pitchFamily="34" charset="-120"/>
              </a:rPr>
              <a:t>A handler that disappears</a:t>
            </a:r>
            <a:endParaRPr lang="en-US" sz="1400" dirty="0"/>
          </a:p>
        </p:txBody>
      </p:sp>
      <p:sp>
        <p:nvSpPr>
          <p:cNvPr id="38" name="Text 30"/>
          <p:cNvSpPr txBox="1"/>
          <p:nvPr/>
        </p:nvSpPr>
        <p:spPr>
          <a:xfrm>
            <a:off x="6199632" y="4069080"/>
            <a:ext cx="2377440" cy="45720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telemetry: no handlers, events still firing</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Up close: 512 bytes that pin 1 MB</a:t>
            </a:r>
            <a:endParaRPr lang="en-US" sz="3200" dirty="0"/>
          </a:p>
        </p:txBody>
      </p:sp>
      <p:sp>
        <p:nvSpPr>
          <p:cNvPr id="3" name="Code card"/>
          <p:cNvSpPr/>
          <p:nvPr/>
        </p:nvSpPr>
        <p:spPr>
          <a:xfrm>
            <a:off x="457200" y="1188720"/>
            <a:ext cx="4206240" cy="1920240"/>
          </a:xfrm>
          <a:prstGeom prst="roundRect">
            <a:avLst>
              <a:gd name="adj" fmla="val 3810"/>
            </a:avLst>
          </a:prstGeom>
          <a:solidFill>
            <a:schemeClr val="tx2"/>
          </a:solidFill>
          <a:ln w="12700">
            <a:solidFill>
              <a:schemeClr val="tx2"/>
            </a:solidFill>
            <a:prstDash val="solid"/>
          </a:ln>
          <a:effectLst>
            <a:outerShdw sx="100000" sy="100000" kx="0" ky="0" algn="bl" rotWithShape="0" blurRad="76200" dist="25400" dir="5400000">
              <a:srgbClr val="3A1D4A">
                <a:alpha val="12000"/>
              </a:srgbClr>
            </a:outerShdw>
          </a:effectLst>
        </p:spPr>
      </p:sp>
      <p:sp>
        <p:nvSpPr>
          <p:cNvPr id="4" name="Text 2"/>
          <p:cNvSpPr txBox="1"/>
          <p:nvPr/>
        </p:nvSpPr>
        <p:spPr>
          <a:xfrm>
            <a:off x="685800" y="1371600"/>
            <a:ext cx="3840480" cy="1554480"/>
          </a:xfrm>
          <a:prstGeom prst="rect">
            <a:avLst/>
          </a:prstGeom>
          <a:noFill/>
          <a:ln/>
        </p:spPr>
        <p:txBody>
          <a:bodyPr wrap="square" lIns="0" tIns="0" rIns="0" bIns="0" rtlCol="0" anchor="ctr"/>
          <a:lstStyle/>
          <a:p>
            <a:pPr indent="0" marL="0">
              <a:buNone/>
            </a:pPr>
            <a:r>
              <a:rPr lang="en-US" sz="1200" dirty="0">
                <a:solidFill>
                  <a:schemeClr val="bg1"/>
                </a:solidFill>
                <a:latin typeface="Courier New" pitchFamily="34" charset="0"/>
                <a:ea typeface="Courier New" pitchFamily="34" charset="-122"/>
                <a:cs typeface="Courier New" pitchFamily="34" charset="-120"/>
              </a:rPr>
              <a:t>handle_info({http_body, Id, Body}, S) -&gt;</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&lt;&lt;_:32/binary, Header:512/binary,</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_/binary&gt;&gt; = Body,</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{noreply, S#{Id =&gt; Header}}.</a:t>
            </a:r>
            <a:endParaRPr lang="en-US" sz="1200" dirty="0"/>
          </a:p>
        </p:txBody>
      </p:sp>
      <p:sp>
        <p:nvSpPr>
          <p:cNvPr id="5" name="Text 3"/>
          <p:cNvSpPr txBox="1"/>
          <p:nvPr/>
        </p:nvSpPr>
        <p:spPr>
          <a:xfrm>
            <a:off x="457200" y="3291840"/>
            <a:ext cx="4206240" cy="73152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Header is a sub-binary: it keeps the whole 1 MB body alive, once per session.</a:t>
            </a:r>
            <a:endParaRPr lang="en-US" sz="1500" dirty="0"/>
          </a:p>
        </p:txBody>
      </p:sp>
      <p:sp>
        <p:nvSpPr>
          <p:cNvPr id="6" name="Text 4"/>
          <p:cNvSpPr txBox="1"/>
          <p:nvPr/>
        </p:nvSpPr>
        <p:spPr>
          <a:xfrm>
            <a:off x="457200" y="4069080"/>
            <a:ext cx="4206240" cy="365760"/>
          </a:xfrm>
          <a:prstGeom prst="rect">
            <a:avLst/>
          </a:prstGeom>
          <a:noFill/>
          <a:ln/>
        </p:spPr>
        <p:txBody>
          <a:bodyPr wrap="square" lIns="0" tIns="0" rIns="0" bIns="0" rtlCol="0" anchor="t"/>
          <a:lstStyle/>
          <a:p>
            <a:pPr indent="0" marL="0">
              <a:buNone/>
            </a:pPr>
            <a:r>
              <a:rPr lang="en-US" sz="1500" b="1" dirty="0">
                <a:solidFill>
                  <a:schemeClr val="accent1"/>
                </a:solidFill>
                <a:latin typeface="Calibri" pitchFamily="34" charset="0"/>
                <a:ea typeface="Calibri" pitchFamily="34" charset="-122"/>
                <a:cs typeface="Calibri" pitchFamily="34" charset="-120"/>
              </a:rPr>
              <a:t>Fix: binary:copy(Header)</a:t>
            </a:r>
            <a:endParaRPr lang="en-US" sz="1500" dirty="0"/>
          </a:p>
        </p:txBody>
      </p:sp>
      <p:sp>
        <p:nvSpPr>
          <p:cNvPr id="7" name="100 KB card"/>
          <p:cNvSpPr/>
          <p:nvPr/>
        </p:nvSpPr>
        <p:spPr>
          <a:xfrm>
            <a:off x="5029200" y="1188720"/>
            <a:ext cx="3657600" cy="1325880"/>
          </a:xfrm>
          <a:prstGeom prst="roundRect">
            <a:avLst>
              <a:gd name="adj" fmla="val 5517"/>
            </a:avLst>
          </a:prstGeom>
          <a:solidFill>
            <a:schemeClr val="bg2"/>
          </a:solidFill>
          <a:ln w="12700">
            <a:solidFill>
              <a:schemeClr val="bg2"/>
            </a:solidFill>
            <a:prstDash val="solid"/>
          </a:ln>
          <a:effectLst>
            <a:outerShdw sx="100000" sy="100000" kx="0" ky="0" algn="bl" rotWithShape="0" blurRad="76200" dist="25400" dir="5400000">
              <a:srgbClr val="3A1D4A">
                <a:alpha val="12000"/>
              </a:srgbClr>
            </a:outerShdw>
          </a:effectLst>
        </p:spPr>
      </p:sp>
      <p:sp>
        <p:nvSpPr>
          <p:cNvPr id="8" name="Text 6"/>
          <p:cNvSpPr txBox="1"/>
          <p:nvPr/>
        </p:nvSpPr>
        <p:spPr>
          <a:xfrm>
            <a:off x="5212080" y="1325880"/>
            <a:ext cx="1920240" cy="1051560"/>
          </a:xfrm>
          <a:prstGeom prst="rect">
            <a:avLst/>
          </a:prstGeom>
          <a:noFill/>
          <a:ln/>
        </p:spPr>
        <p:txBody>
          <a:bodyPr wrap="square" lIns="0" tIns="0" rIns="0" bIns="0" rtlCol="0" anchor="ctr"/>
          <a:lstStyle/>
          <a:p>
            <a:pPr indent="0" marL="0">
              <a:buNone/>
            </a:pPr>
            <a:r>
              <a:rPr lang="en-US" sz="4000" b="1" dirty="0">
                <a:solidFill>
                  <a:schemeClr val="accent2"/>
                </a:solidFill>
                <a:latin typeface="Cambria" pitchFamily="34" charset="0"/>
                <a:ea typeface="Cambria" pitchFamily="34" charset="-122"/>
                <a:cs typeface="Cambria" pitchFamily="34" charset="-120"/>
              </a:rPr>
              <a:t>100 KB</a:t>
            </a:r>
            <a:endParaRPr lang="en-US" sz="4000" dirty="0"/>
          </a:p>
        </p:txBody>
      </p:sp>
      <p:sp>
        <p:nvSpPr>
          <p:cNvPr id="9" name="Text 7"/>
          <p:cNvSpPr txBox="1"/>
          <p:nvPr/>
        </p:nvSpPr>
        <p:spPr>
          <a:xfrm>
            <a:off x="7178040" y="1325880"/>
            <a:ext cx="1371600" cy="105156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of headers kept</a:t>
            </a:r>
            <a:endParaRPr lang="en-US" sz="1500" dirty="0"/>
          </a:p>
        </p:txBody>
      </p:sp>
      <p:sp>
        <p:nvSpPr>
          <p:cNvPr id="10" name="210 MB card"/>
          <p:cNvSpPr/>
          <p:nvPr/>
        </p:nvSpPr>
        <p:spPr>
          <a:xfrm>
            <a:off x="5029200" y="2697480"/>
            <a:ext cx="3657600" cy="1325880"/>
          </a:xfrm>
          <a:prstGeom prst="roundRect">
            <a:avLst>
              <a:gd name="adj" fmla="val 5517"/>
            </a:avLst>
          </a:prstGeom>
          <a:solidFill>
            <a:schemeClr val="bg2"/>
          </a:solidFill>
          <a:ln w="12700">
            <a:solidFill>
              <a:schemeClr val="bg2"/>
            </a:solidFill>
            <a:prstDash val="solid"/>
          </a:ln>
          <a:effectLst>
            <a:outerShdw sx="100000" sy="100000" kx="0" ky="0" algn="bl" rotWithShape="0" blurRad="76200" dist="25400" dir="5400000">
              <a:srgbClr val="3A1D4A">
                <a:alpha val="12000"/>
              </a:srgbClr>
            </a:outerShdw>
          </a:effectLst>
        </p:spPr>
      </p:sp>
      <p:sp>
        <p:nvSpPr>
          <p:cNvPr id="11" name="Text 9"/>
          <p:cNvSpPr txBox="1"/>
          <p:nvPr/>
        </p:nvSpPr>
        <p:spPr>
          <a:xfrm>
            <a:off x="5212080" y="2834640"/>
            <a:ext cx="1920240" cy="105156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210 MB</a:t>
            </a:r>
            <a:endParaRPr lang="en-US" sz="4000" dirty="0"/>
          </a:p>
        </p:txBody>
      </p:sp>
      <p:sp>
        <p:nvSpPr>
          <p:cNvPr id="12" name="Text 10"/>
          <p:cNvSpPr txBox="1"/>
          <p:nvPr/>
        </p:nvSpPr>
        <p:spPr>
          <a:xfrm>
            <a:off x="7178040" y="2834640"/>
            <a:ext cx="1371600" cy="105156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of bodies pinned</a:t>
            </a:r>
            <a:endParaRPr lang="en-US" sz="1500" dirty="0"/>
          </a:p>
        </p:txBody>
      </p:sp>
      <p:sp>
        <p:nvSpPr>
          <p:cNvPr id="13" name="Text 11"/>
          <p:cNvSpPr txBox="1"/>
          <p:nvPr/>
        </p:nvSpPr>
        <p:spPr>
          <a:xfrm>
            <a:off x="5029200" y="4160520"/>
            <a:ext cx="3657600" cy="365760"/>
          </a:xfrm>
          <a:prstGeom prst="rect">
            <a:avLst/>
          </a:prstGeom>
          <a:noFill/>
          <a:ln/>
        </p:spPr>
        <p:txBody>
          <a:bodyPr wrap="square" lIns="0" tIns="0" rIns="0" bIns="0" rtlCol="0" anchor="t"/>
          <a:lstStyle/>
          <a:p>
            <a:pPr indent="0" marL="0">
              <a:buNone/>
            </a:pPr>
            <a:r>
              <a:rPr lang="en-US" sz="1200" i="1" dirty="0">
                <a:solidFill>
                  <a:schemeClr val="accent5"/>
                </a:solidFill>
                <a:latin typeface="Calibri" pitchFamily="34" charset="0"/>
                <a:ea typeface="Calibri" pitchFamily="34" charset="-122"/>
                <a:cs typeface="Calibri" pitchFamily="34" charset="-120"/>
              </a:rPr>
              <a:t>diagnose: "slices pinning larger binaries"</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What the runs taught the tool</a:t>
            </a:r>
            <a:endParaRPr lang="en-US" sz="3200" dirty="0"/>
          </a:p>
        </p:txBody>
      </p:sp>
      <p:sp>
        <p:nvSpPr>
          <p:cNvPr id="3" name="A bug, fixed circle"/>
          <p:cNvSpPr/>
          <p:nvPr/>
        </p:nvSpPr>
        <p:spPr>
          <a:xfrm>
            <a:off x="548640" y="1280160"/>
            <a:ext cx="685800" cy="685800"/>
          </a:xfrm>
          <a:prstGeom prst="ellipse">
            <a:avLst/>
          </a:prstGeom>
          <a:solidFill>
            <a:schemeClr val="accent1"/>
          </a:solidFill>
          <a:ln w="12700">
            <a:solidFill>
              <a:schemeClr val="accent1"/>
            </a:solidFill>
            <a:prstDash val="solid"/>
          </a:ln>
        </p:spPr>
      </p:sp>
      <p:pic>
        <p:nvPicPr>
          <p:cNvPr id="4" name="A bug, fixed icon" descr="A bug, fixed">    </p:cNvPr>
          <p:cNvPicPr>
            <a:picLocks noChangeAspect="1"/>
          </p:cNvPicPr>
          <p:nvPr/>
        </p:nvPicPr>
        <p:blipFill>
          <a:blip r:embed="rId1"/>
          <a:stretch>
            <a:fillRect/>
          </a:stretch>
        </p:blipFill>
        <p:spPr>
          <a:xfrm>
            <a:off x="713232" y="1444752"/>
            <a:ext cx="356616" cy="356616"/>
          </a:xfrm>
          <a:prstGeom prst="rect">
            <a:avLst/>
          </a:prstGeom>
        </p:spPr>
      </p:pic>
      <p:sp>
        <p:nvSpPr>
          <p:cNvPr id="5" name="Text 2"/>
          <p:cNvSpPr txBox="1"/>
          <p:nvPr/>
        </p:nvSpPr>
        <p:spPr>
          <a:xfrm>
            <a:off x="1463040" y="1234440"/>
            <a:ext cx="7132320" cy="365760"/>
          </a:xfrm>
          <a:prstGeom prst="rect">
            <a:avLst/>
          </a:prstGeom>
          <a:noFill/>
          <a:ln/>
        </p:spPr>
        <p:txBody>
          <a:bodyPr wrap="square" lIns="0" tIns="0" rIns="0" bIns="0" rtlCol="0" anchor="t"/>
          <a:lstStyle/>
          <a:p>
            <a:pPr indent="0" marL="0">
              <a:buNone/>
            </a:pPr>
            <a:r>
              <a:rPr lang="en-US" sz="1800" b="1" dirty="0">
                <a:solidFill>
                  <a:schemeClr val="tx2"/>
                </a:solidFill>
                <a:latin typeface="Calibri" pitchFamily="34" charset="0"/>
                <a:ea typeface="Calibri" pitchFamily="34" charset="-122"/>
                <a:cs typeface="Calibri" pitchFamily="34" charset="-120"/>
              </a:rPr>
              <a:t>A bug, fixed</a:t>
            </a:r>
            <a:endParaRPr lang="en-US" sz="1800" dirty="0"/>
          </a:p>
        </p:txBody>
      </p:sp>
      <p:sp>
        <p:nvSpPr>
          <p:cNvPr id="6" name="Text 3"/>
          <p:cNvSpPr txBox="1"/>
          <p:nvPr/>
        </p:nvSpPr>
        <p:spPr>
          <a:xfrm>
            <a:off x="1463040" y="1600200"/>
            <a:ext cx="7132320" cy="54864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call_chains failed on plain gen_server:call/2: the commonest deadlock broke the check that finds it.</a:t>
            </a:r>
            <a:endParaRPr lang="en-US" sz="1500" dirty="0"/>
          </a:p>
        </p:txBody>
      </p:sp>
      <p:sp>
        <p:nvSpPr>
          <p:cNvPr id="7" name="Deadlocks after the fact circle"/>
          <p:cNvSpPr/>
          <p:nvPr/>
        </p:nvSpPr>
        <p:spPr>
          <a:xfrm>
            <a:off x="548640" y="2423160"/>
            <a:ext cx="685800" cy="685800"/>
          </a:xfrm>
          <a:prstGeom prst="ellipse">
            <a:avLst/>
          </a:prstGeom>
          <a:solidFill>
            <a:schemeClr val="accent2"/>
          </a:solidFill>
          <a:ln w="12700">
            <a:solidFill>
              <a:schemeClr val="accent2"/>
            </a:solidFill>
            <a:prstDash val="solid"/>
          </a:ln>
        </p:spPr>
      </p:sp>
      <p:pic>
        <p:nvPicPr>
          <p:cNvPr id="8" name="Deadlocks after the fact icon" descr="Deadlocks after the fact">    </p:cNvPr>
          <p:cNvPicPr>
            <a:picLocks noChangeAspect="1"/>
          </p:cNvPicPr>
          <p:nvPr/>
        </p:nvPicPr>
        <p:blipFill>
          <a:blip r:embed="rId2"/>
          <a:stretch>
            <a:fillRect/>
          </a:stretch>
        </p:blipFill>
        <p:spPr>
          <a:xfrm>
            <a:off x="713232" y="2587752"/>
            <a:ext cx="356616" cy="356616"/>
          </a:xfrm>
          <a:prstGeom prst="rect">
            <a:avLst/>
          </a:prstGeom>
        </p:spPr>
      </p:pic>
      <p:sp>
        <p:nvSpPr>
          <p:cNvPr id="9" name="Text 5"/>
          <p:cNvSpPr txBox="1"/>
          <p:nvPr/>
        </p:nvSpPr>
        <p:spPr>
          <a:xfrm>
            <a:off x="1463040" y="2377440"/>
            <a:ext cx="7132320" cy="365760"/>
          </a:xfrm>
          <a:prstGeom prst="rect">
            <a:avLst/>
          </a:prstGeom>
          <a:noFill/>
          <a:ln/>
        </p:spPr>
        <p:txBody>
          <a:bodyPr wrap="square" lIns="0" tIns="0" rIns="0" bIns="0" rtlCol="0" anchor="t"/>
          <a:lstStyle/>
          <a:p>
            <a:pPr indent="0" marL="0">
              <a:buNone/>
            </a:pPr>
            <a:r>
              <a:rPr lang="en-US" sz="1800" b="1" dirty="0">
                <a:solidFill>
                  <a:schemeClr val="tx2"/>
                </a:solidFill>
                <a:latin typeface="Calibri" pitchFamily="34" charset="0"/>
                <a:ea typeface="Calibri" pitchFamily="34" charset="-122"/>
                <a:cs typeface="Calibri" pitchFamily="34" charset="-120"/>
              </a:rPr>
              <a:t>Deadlocks after the fact</a:t>
            </a:r>
            <a:endParaRPr lang="en-US" sz="1800" dirty="0"/>
          </a:p>
        </p:txBody>
      </p:sp>
      <p:sp>
        <p:nvSpPr>
          <p:cNvPr id="10" name="Text 6"/>
          <p:cNvSpPr txBox="1"/>
          <p:nvPr/>
        </p:nvSpPr>
        <p:spPr>
          <a:xfrm>
            <a:off x="1463040" y="2743200"/>
            <a:ext cx="7132320" cy="54864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recent_errors reports processes that crashed calling each other, once a timeout has ended the deadlock.</a:t>
            </a:r>
            <a:endParaRPr lang="en-US" sz="1500" dirty="0"/>
          </a:p>
        </p:txBody>
      </p:sp>
      <p:sp>
        <p:nvSpPr>
          <p:cNvPr id="11" name="One process's exceptions circle"/>
          <p:cNvSpPr/>
          <p:nvPr/>
        </p:nvSpPr>
        <p:spPr>
          <a:xfrm>
            <a:off x="548640" y="3566160"/>
            <a:ext cx="685800" cy="685800"/>
          </a:xfrm>
          <a:prstGeom prst="ellipse">
            <a:avLst/>
          </a:prstGeom>
          <a:solidFill>
            <a:schemeClr val="tx2"/>
          </a:solidFill>
          <a:ln w="12700">
            <a:solidFill>
              <a:schemeClr val="tx2"/>
            </a:solidFill>
            <a:prstDash val="solid"/>
          </a:ln>
        </p:spPr>
      </p:sp>
      <p:pic>
        <p:nvPicPr>
          <p:cNvPr id="12" name="One process's exceptions icon" descr="One process's exceptions">    </p:cNvPr>
          <p:cNvPicPr>
            <a:picLocks noChangeAspect="1"/>
          </p:cNvPicPr>
          <p:nvPr/>
        </p:nvPicPr>
        <p:blipFill>
          <a:blip r:embed="rId3"/>
          <a:stretch>
            <a:fillRect/>
          </a:stretch>
        </p:blipFill>
        <p:spPr>
          <a:xfrm>
            <a:off x="713232" y="3730752"/>
            <a:ext cx="356616" cy="356616"/>
          </a:xfrm>
          <a:prstGeom prst="rect">
            <a:avLst/>
          </a:prstGeom>
        </p:spPr>
      </p:pic>
      <p:sp>
        <p:nvSpPr>
          <p:cNvPr id="13" name="Text 8"/>
          <p:cNvSpPr txBox="1"/>
          <p:nvPr/>
        </p:nvSpPr>
        <p:spPr>
          <a:xfrm>
            <a:off x="1463040" y="3520440"/>
            <a:ext cx="7132320" cy="365760"/>
          </a:xfrm>
          <a:prstGeom prst="rect">
            <a:avLst/>
          </a:prstGeom>
          <a:noFill/>
          <a:ln/>
        </p:spPr>
        <p:txBody>
          <a:bodyPr wrap="square" lIns="0" tIns="0" rIns="0" bIns="0" rtlCol="0" anchor="t"/>
          <a:lstStyle/>
          <a:p>
            <a:pPr indent="0" marL="0">
              <a:buNone/>
            </a:pPr>
            <a:r>
              <a:rPr lang="en-US" sz="1800" b="1" dirty="0">
                <a:solidFill>
                  <a:schemeClr val="tx2"/>
                </a:solidFill>
                <a:latin typeface="Calibri" pitchFamily="34" charset="0"/>
                <a:ea typeface="Calibri" pitchFamily="34" charset="-122"/>
                <a:cs typeface="Calibri" pitchFamily="34" charset="-120"/>
              </a:rPr>
              <a:t>One process's exceptions</a:t>
            </a:r>
            <a:endParaRPr lang="en-US" sz="1800" dirty="0"/>
          </a:p>
        </p:txBody>
      </p:sp>
      <p:sp>
        <p:nvSpPr>
          <p:cNvPr id="14" name="Text 9"/>
          <p:cNvSpPr txBox="1"/>
          <p:nvPr/>
        </p:nvSpPr>
        <p:spPr>
          <a:xfrm>
            <a:off x="1463040" y="3886200"/>
            <a:ext cx="7132320" cy="54864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trace_calls with a process: every function that raises in it, caught or not, and where it was called.</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8046720" cy="777240"/>
          </a:xfrm>
          <a:prstGeom prst="rect">
            <a:avLst/>
          </a:prstGeom>
          <a:noFill/>
          <a:ln/>
        </p:spPr>
        <p:txBody>
          <a:bodyPr wrap="square" lIns="0" tIns="0" rIns="0" bIns="0" rtlCol="0" anchor="ctr"/>
          <a:lstStyle/>
          <a:p>
            <a:pPr algn="l" indent="0" marL="0">
              <a:buNone/>
            </a:pPr>
            <a:r>
              <a:rPr lang="en-US" sz="3600" b="1" dirty="0">
                <a:solidFill>
                  <a:schemeClr val="bg1"/>
                </a:solidFill>
                <a:latin typeface="Cambria" pitchFamily="34" charset="0"/>
                <a:ea typeface="Cambria" pitchFamily="34" charset="-122"/>
                <a:cs typeface="Cambria" pitchFamily="34" charset="-120"/>
              </a:rPr>
              <a:t>Try it</a:t>
            </a:r>
            <a:endParaRPr lang="en-US" sz="3600" dirty="0"/>
          </a:p>
        </p:txBody>
      </p:sp>
      <p:sp>
        <p:nvSpPr>
          <p:cNvPr id="3" name="Command card"/>
          <p:cNvSpPr/>
          <p:nvPr/>
        </p:nvSpPr>
        <p:spPr>
          <a:xfrm>
            <a:off x="548640" y="1371600"/>
            <a:ext cx="8046720" cy="731520"/>
          </a:xfrm>
          <a:prstGeom prst="roundRect">
            <a:avLst>
              <a:gd name="adj" fmla="val 10000"/>
            </a:avLst>
          </a:prstGeom>
          <a:solidFill>
            <a:schemeClr val="tx1"/>
          </a:solidFill>
          <a:ln w="12700">
            <a:solidFill>
              <a:schemeClr val="tx1"/>
            </a:solidFill>
            <a:prstDash val="solid"/>
          </a:ln>
        </p:spPr>
      </p:sp>
      <p:sp>
        <p:nvSpPr>
          <p:cNvPr id="4" name="Text 2"/>
          <p:cNvSpPr txBox="1"/>
          <p:nvPr/>
        </p:nvSpPr>
        <p:spPr>
          <a:xfrm>
            <a:off x="777240" y="1371600"/>
            <a:ext cx="7589520" cy="731520"/>
          </a:xfrm>
          <a:prstGeom prst="rect">
            <a:avLst/>
          </a:prstGeom>
          <a:noFill/>
          <a:ln/>
        </p:spPr>
        <p:txBody>
          <a:bodyPr wrap="square" lIns="0" tIns="0" rIns="0" bIns="0" rtlCol="0" anchor="ctr"/>
          <a:lstStyle/>
          <a:p>
            <a:pPr indent="0" marL="0">
              <a:buNone/>
            </a:pPr>
            <a:r>
              <a:rPr lang="en-US" sz="2200" dirty="0">
                <a:solidFill>
                  <a:schemeClr val="bg1"/>
                </a:solidFill>
                <a:latin typeface="Courier New" pitchFamily="34" charset="0"/>
                <a:ea typeface="Courier New" pitchFamily="34" charset="-122"/>
                <a:cs typeface="Courier New" pitchFamily="34" charset="-120"/>
              </a:rPr>
              <a:t>examples/books/run.sh all</a:t>
            </a:r>
            <a:endParaRPr lang="en-US" sz="2200" dirty="0"/>
          </a:p>
        </p:txBody>
      </p:sp>
      <p:sp>
        <p:nvSpPr>
          <p:cNvPr id="5" name="otp_debug_mcp circle"/>
          <p:cNvSpPr/>
          <p:nvPr/>
        </p:nvSpPr>
        <p:spPr>
          <a:xfrm>
            <a:off x="548640" y="2423160"/>
            <a:ext cx="548640" cy="548640"/>
          </a:xfrm>
          <a:prstGeom prst="ellipse">
            <a:avLst/>
          </a:prstGeom>
          <a:solidFill>
            <a:schemeClr val="accent1"/>
          </a:solidFill>
          <a:ln w="12700">
            <a:solidFill>
              <a:schemeClr val="accent1"/>
            </a:solidFill>
            <a:prstDash val="solid"/>
          </a:ln>
        </p:spPr>
      </p:sp>
      <p:pic>
        <p:nvPicPr>
          <p:cNvPr id="6" name="otp_debug_mcp icon" descr="otp_debug_mcp">    </p:cNvPr>
          <p:cNvPicPr>
            <a:picLocks noChangeAspect="1"/>
          </p:cNvPicPr>
          <p:nvPr/>
        </p:nvPicPr>
        <p:blipFill>
          <a:blip r:embed="rId1"/>
          <a:stretch>
            <a:fillRect/>
          </a:stretch>
        </p:blipFill>
        <p:spPr>
          <a:xfrm>
            <a:off x="680314" y="2554834"/>
            <a:ext cx="285293" cy="285293"/>
          </a:xfrm>
          <a:prstGeom prst="rect">
            <a:avLst/>
          </a:prstGeom>
        </p:spPr>
      </p:pic>
      <p:sp>
        <p:nvSpPr>
          <p:cNvPr id="7" name="Text 4"/>
          <p:cNvSpPr txBox="1"/>
          <p:nvPr/>
        </p:nvSpPr>
        <p:spPr>
          <a:xfrm>
            <a:off x="1280160" y="2404872"/>
            <a:ext cx="7315200" cy="292608"/>
          </a:xfrm>
          <a:prstGeom prst="rect">
            <a:avLst/>
          </a:prstGeom>
          <a:noFill/>
          <a:ln/>
        </p:spPr>
        <p:txBody>
          <a:bodyPr wrap="square" lIns="0" tIns="0" rIns="0" bIns="0" rtlCol="0" anchor="t"/>
          <a:lstStyle/>
          <a:p>
            <a:pPr indent="0" marL="0">
              <a:buNone/>
            </a:pPr>
            <a:r>
              <a:rPr lang="en-US" sz="1600" b="1" dirty="0">
                <a:solidFill>
                  <a:schemeClr val="bg1"/>
                </a:solidFill>
                <a:latin typeface="Calibri" pitchFamily="34" charset="0"/>
                <a:ea typeface="Calibri" pitchFamily="34" charset="-122"/>
                <a:cs typeface="Calibri" pitchFamily="34" charset="-120"/>
              </a:rPr>
              <a:t>otp_debug_mcp</a:t>
            </a:r>
            <a:endParaRPr lang="en-US" sz="1600" dirty="0"/>
          </a:p>
        </p:txBody>
      </p:sp>
      <p:sp>
        <p:nvSpPr>
          <p:cNvPr id="8" name="Text 5"/>
          <p:cNvSpPr txBox="1"/>
          <p:nvPr/>
        </p:nvSpPr>
        <p:spPr>
          <a:xfrm>
            <a:off x="1280160" y="2697480"/>
            <a:ext cx="7315200" cy="292608"/>
          </a:xfrm>
          <a:prstGeom prst="rect">
            <a:avLst/>
          </a:prstGeom>
          <a:noFill/>
          <a:ln/>
        </p:spPr>
        <p:txBody>
          <a:bodyPr wrap="square" lIns="0" tIns="0" rIns="0" bIns="0" rtlCol="0" anchor="t"/>
          <a:lstStyle/>
          <a:p>
            <a:pPr indent="0" marL="0">
              <a:buNone/>
            </a:pPr>
            <a:r>
              <a:rPr lang="en-US" sz="1400" dirty="0">
                <a:solidFill>
                  <a:schemeClr val="accent6"/>
                </a:solidFill>
                <a:latin typeface="Calibri" pitchFamily="34" charset="0"/>
                <a:ea typeface="Calibri" pitchFamily="34" charset="-122"/>
                <a:cs typeface="Calibri" pitchFamily="34" charset="-120"/>
              </a:rPr>
              <a:t>github.com/ayarodionov/otp_debug_mcp</a:t>
            </a:r>
            <a:endParaRPr lang="en-US" sz="1400" dirty="0"/>
          </a:p>
        </p:txBody>
      </p:sp>
      <p:sp>
        <p:nvSpPr>
          <p:cNvPr id="9" name="The write-up circle"/>
          <p:cNvSpPr/>
          <p:nvPr/>
        </p:nvSpPr>
        <p:spPr>
          <a:xfrm>
            <a:off x="548640" y="3200400"/>
            <a:ext cx="548640" cy="548640"/>
          </a:xfrm>
          <a:prstGeom prst="ellipse">
            <a:avLst/>
          </a:prstGeom>
          <a:solidFill>
            <a:schemeClr val="accent1"/>
          </a:solidFill>
          <a:ln w="12700">
            <a:solidFill>
              <a:schemeClr val="accent1"/>
            </a:solidFill>
            <a:prstDash val="solid"/>
          </a:ln>
        </p:spPr>
      </p:sp>
      <p:pic>
        <p:nvPicPr>
          <p:cNvPr id="10" name="The write-up icon" descr="The write-up">    </p:cNvPr>
          <p:cNvPicPr>
            <a:picLocks noChangeAspect="1"/>
          </p:cNvPicPr>
          <p:nvPr/>
        </p:nvPicPr>
        <p:blipFill>
          <a:blip r:embed="rId2"/>
          <a:stretch>
            <a:fillRect/>
          </a:stretch>
        </p:blipFill>
        <p:spPr>
          <a:xfrm>
            <a:off x="680314" y="3332074"/>
            <a:ext cx="285293" cy="285293"/>
          </a:xfrm>
          <a:prstGeom prst="rect">
            <a:avLst/>
          </a:prstGeom>
        </p:spPr>
      </p:pic>
      <p:sp>
        <p:nvSpPr>
          <p:cNvPr id="11" name="Text 7"/>
          <p:cNvSpPr txBox="1"/>
          <p:nvPr/>
        </p:nvSpPr>
        <p:spPr>
          <a:xfrm>
            <a:off x="1280160" y="3182112"/>
            <a:ext cx="7315200" cy="292608"/>
          </a:xfrm>
          <a:prstGeom prst="rect">
            <a:avLst/>
          </a:prstGeom>
          <a:noFill/>
          <a:ln/>
        </p:spPr>
        <p:txBody>
          <a:bodyPr wrap="square" lIns="0" tIns="0" rIns="0" bIns="0" rtlCol="0" anchor="t"/>
          <a:lstStyle/>
          <a:p>
            <a:pPr indent="0" marL="0">
              <a:buNone/>
            </a:pPr>
            <a:r>
              <a:rPr lang="en-US" sz="1600" b="1" dirty="0">
                <a:solidFill>
                  <a:schemeClr val="bg1"/>
                </a:solidFill>
                <a:latin typeface="Calibri" pitchFamily="34" charset="0"/>
                <a:ea typeface="Calibri" pitchFamily="34" charset="-122"/>
                <a:cs typeface="Calibri" pitchFamily="34" charset="-120"/>
              </a:rPr>
              <a:t>The write-up</a:t>
            </a:r>
            <a:endParaRPr lang="en-US" sz="1600" dirty="0"/>
          </a:p>
        </p:txBody>
      </p:sp>
      <p:sp>
        <p:nvSpPr>
          <p:cNvPr id="12" name="Text 8"/>
          <p:cNvSpPr txBox="1"/>
          <p:nvPr/>
        </p:nvSpPr>
        <p:spPr>
          <a:xfrm>
            <a:off x="1280160" y="3474720"/>
            <a:ext cx="7315200" cy="292608"/>
          </a:xfrm>
          <a:prstGeom prst="rect">
            <a:avLst/>
          </a:prstGeom>
          <a:noFill/>
          <a:ln/>
        </p:spPr>
        <p:txBody>
          <a:bodyPr wrap="square" lIns="0" tIns="0" rIns="0" bIns="0" rtlCol="0" anchor="t"/>
          <a:lstStyle/>
          <a:p>
            <a:pPr indent="0" marL="0">
              <a:buNone/>
            </a:pPr>
            <a:r>
              <a:rPr lang="en-US" sz="1400" dirty="0">
                <a:solidFill>
                  <a:schemeClr val="accent6"/>
                </a:solidFill>
                <a:latin typeface="Calibri" pitchFamily="34" charset="0"/>
                <a:ea typeface="Calibri" pitchFamily="34" charset="-122"/>
                <a:cs typeface="Calibri" pitchFamily="34" charset="-120"/>
              </a:rPr>
              <a:t>docs/plausible-but-wrong.md</a:t>
            </a:r>
            <a:endParaRPr lang="en-US" sz="1400" dirty="0"/>
          </a:p>
        </p:txBody>
      </p:sp>
      <p:sp>
        <p:nvSpPr>
          <p:cNvPr id="13" name="The books circle"/>
          <p:cNvSpPr/>
          <p:nvPr/>
        </p:nvSpPr>
        <p:spPr>
          <a:xfrm>
            <a:off x="548640" y="3977640"/>
            <a:ext cx="548640" cy="548640"/>
          </a:xfrm>
          <a:prstGeom prst="ellipse">
            <a:avLst/>
          </a:prstGeom>
          <a:solidFill>
            <a:schemeClr val="accent1"/>
          </a:solidFill>
          <a:ln w="12700">
            <a:solidFill>
              <a:schemeClr val="accent1"/>
            </a:solidFill>
            <a:prstDash val="solid"/>
          </a:ln>
        </p:spPr>
      </p:sp>
      <p:pic>
        <p:nvPicPr>
          <p:cNvPr id="14" name="The books icon" descr="The books">    </p:cNvPr>
          <p:cNvPicPr>
            <a:picLocks noChangeAspect="1"/>
          </p:cNvPicPr>
          <p:nvPr/>
        </p:nvPicPr>
        <p:blipFill>
          <a:blip r:embed="rId3"/>
          <a:stretch>
            <a:fillRect/>
          </a:stretch>
        </p:blipFill>
        <p:spPr>
          <a:xfrm>
            <a:off x="680314" y="4109314"/>
            <a:ext cx="285293" cy="285293"/>
          </a:xfrm>
          <a:prstGeom prst="rect">
            <a:avLst/>
          </a:prstGeom>
        </p:spPr>
      </p:pic>
      <p:sp>
        <p:nvSpPr>
          <p:cNvPr id="15" name="Text 10"/>
          <p:cNvSpPr txBox="1"/>
          <p:nvPr/>
        </p:nvSpPr>
        <p:spPr>
          <a:xfrm>
            <a:off x="1280160" y="3959352"/>
            <a:ext cx="7315200" cy="292608"/>
          </a:xfrm>
          <a:prstGeom prst="rect">
            <a:avLst/>
          </a:prstGeom>
          <a:noFill/>
          <a:ln/>
        </p:spPr>
        <p:txBody>
          <a:bodyPr wrap="square" lIns="0" tIns="0" rIns="0" bIns="0" rtlCol="0" anchor="t"/>
          <a:lstStyle/>
          <a:p>
            <a:pPr indent="0" marL="0">
              <a:buNone/>
            </a:pPr>
            <a:r>
              <a:rPr lang="en-US" sz="1600" b="1" dirty="0">
                <a:solidFill>
                  <a:schemeClr val="bg1"/>
                </a:solidFill>
                <a:latin typeface="Calibri" pitchFamily="34" charset="0"/>
                <a:ea typeface="Calibri" pitchFamily="34" charset="-122"/>
                <a:cs typeface="Calibri" pitchFamily="34" charset="-120"/>
              </a:rPr>
              <a:t>The books</a:t>
            </a:r>
            <a:endParaRPr lang="en-US" sz="1600" dirty="0"/>
          </a:p>
        </p:txBody>
      </p:sp>
      <p:sp>
        <p:nvSpPr>
          <p:cNvPr id="16" name="Text 11"/>
          <p:cNvSpPr txBox="1"/>
          <p:nvPr/>
        </p:nvSpPr>
        <p:spPr>
          <a:xfrm>
            <a:off x="1280160" y="4251960"/>
            <a:ext cx="7315200" cy="292608"/>
          </a:xfrm>
          <a:prstGeom prst="rect">
            <a:avLst/>
          </a:prstGeom>
          <a:noFill/>
          <a:ln/>
        </p:spPr>
        <p:txBody>
          <a:bodyPr wrap="square" lIns="0" tIns="0" rIns="0" bIns="0" rtlCol="0" anchor="t"/>
          <a:lstStyle/>
          <a:p>
            <a:pPr indent="0" marL="0">
              <a:buNone/>
            </a:pPr>
            <a:r>
              <a:rPr lang="en-US" sz="1400" dirty="0">
                <a:solidFill>
                  <a:schemeClr val="accent6"/>
                </a:solidFill>
                <a:latin typeface="Calibri" pitchFamily="34" charset="0"/>
                <a:ea typeface="Calibri" pitchFamily="34" charset="-122"/>
                <a:cs typeface="Calibri" pitchFamily="34" charset="-120"/>
              </a:rPr>
              <a:t>Learning Erlang from Claude  ·  Learning Elixir from Claude</a:t>
            </a:r>
            <a:endParaRPr lang="en-US" sz="1400" dirty="0"/>
          </a:p>
        </p:txBody>
      </p:sp>
    </p:spTree>
  </p:cSld>
  <p:clrMapOvr>
    <a:masterClrMapping/>
  </p:clrMapOvr>
</p:sld>
</file>

<file path=ppt/theme/theme1.xml><?xml version="1.0" encoding="utf-8"?>
<a:theme xmlns:a="http://schemas.openxmlformats.org/drawingml/2006/main" name="BEAM Plum">
  <a:themeElements>
    <a:clrScheme name="BEAM Plum">
      <a:dk1>
        <a:srgbClr val="1E1A22"/>
      </a:dk1>
      <a:lt1>
        <a:srgbClr val="FFFFFF"/>
      </a:lt1>
      <a:dk2>
        <a:srgbClr val="3A1D4A"/>
      </a:dk2>
      <a:lt2>
        <a:srgbClr val="F3EFF5"/>
      </a:lt2>
      <a:accent1>
        <a:srgbClr val="A90533"/>
      </a:accent1>
      <a:accent2>
        <a:srgbClr val="6E4A7E"/>
      </a:accent2>
      <a:accent3>
        <a:srgbClr val="E0A030"/>
      </a:accent3>
      <a:accent4>
        <a:srgbClr val="2E7D6B"/>
      </a:accent4>
      <a:accent5>
        <a:srgbClr val="7A7282"/>
      </a:accent5>
      <a:accent6>
        <a:srgbClr val="D9CFE0"/>
      </a:accent6>
      <a:hlink>
        <a:srgbClr val="A90533"/>
      </a:hlink>
      <a:folHlink>
        <a:srgbClr val="6E4A7E"/>
      </a:folHlink>
    </a:clrScheme>
    <a:fontScheme name="BEAM Plum">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Plausible but wrong, on a live node</dc:title>
  <dc:subject>PptxGenJS Presentation</dc:subject>
  <dc:creator>Anatoly Rodionov</dc:creator>
  <cp:lastModifiedBy>Anatoly Rodionov</cp:lastModifiedBy>
  <cp:revision>1</cp:revision>
  <dcterms:created xsi:type="dcterms:W3CDTF">2026-10-25T19:54:23Z</dcterms:created>
  <dcterms:modified xsi:type="dcterms:W3CDTF">2026-10-25T19:54:23Z</dcterms:modified>
</cp:coreProperties>
</file>